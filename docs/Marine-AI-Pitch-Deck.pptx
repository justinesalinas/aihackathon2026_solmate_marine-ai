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sentence. "We make boats already in the water burn less</a:t>
            </a:r>
          </a:p>
          <a:p>
            <a:r>
              <a:t>fuel, break down less, and prove it — without replacing the boat or the engine."</a:t>
            </a:r>
          </a:p>
          <a:p/>
          <a:p>
            <a:r>
              <a:t>SERVES (rubric): first impression; sets the retrofit framing that makes impact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costs the operator already feels — fuel wasted, downtime</a:t>
            </a:r>
          </a:p>
          <a:p>
            <a:r>
              <a:t>unplanned, and money left on the table for lack of a report they can't produce.</a:t>
            </a:r>
          </a:p>
          <a:p>
            <a:r>
              <a:t>We did not invent a problem; we instrumented one.</a:t>
            </a:r>
          </a:p>
          <a:p/>
          <a:p>
            <a:r>
              <a:t>SERVES (rubric): Innovation &amp; Impact (15%); Local Relevance (12.5%). Ground the pitch in a real operator, the captain from [`PRODUCT.md`](../PRODUCT.md).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architectural claim that ties it together: **there is one</a:t>
            </a:r>
          </a:p>
          <a:p>
            <a:r>
              <a:t>fuel model in this system.** Speed, Route and Emissions are all scored by it, so</a:t>
            </a:r>
          </a:p>
          <a:p>
            <a:r>
              <a:t>the litres a route saves and the litres a throttle saves can never come from two</a:t>
            </a:r>
          </a:p>
          <a:p>
            <a:r>
              <a:t>different models. That is enforced by a test, not a promise.</a:t>
            </a:r>
          </a:p>
          <a:p/>
          <a:p>
            <a:r>
              <a:t>SERVES (rubric): Innovation &amp; Impact; AI Architecture &amp; Model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honesty slide, up front. We are a pre-sprint</a:t>
            </a:r>
          </a:p>
          <a:p>
            <a:r>
              <a:t>software prototype. The sensors are named and the data they'd produce is exactly</a:t>
            </a:r>
          </a:p>
          <a:p>
            <a:r>
              <a:t>what the models consume — so this is a working system waiting for a sensor kit,</a:t>
            </a:r>
          </a:p>
          <a:p>
            <a:r>
              <a:t>not a mock-up. Saying so plainly is worth more than a staged hardware photo.</a:t>
            </a:r>
          </a:p>
          <a:p/>
          <a:p>
            <a:r>
              <a:t>SERVES (rubric): Ethics/Data Integrity (this is the brief's declaration requirement); buys credibility for every later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beat — show head-sea vs calm at the same throttle; the</a:t>
            </a:r>
          </a:p>
          <a:p>
            <a:r>
              <a:t>boat actually slows. In the old prototype the weather slider moved the readout</a:t>
            </a:r>
          </a:p>
          <a:p>
            <a:r>
              <a:t>and never the boat; that bug is now a failing test if it ever returns.</a:t>
            </a:r>
          </a:p>
          <a:p/>
          <a:p>
            <a:r>
              <a:t>SERVES (rubric): Functional Prototype (10% — the working demo); the live-demo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single strongest data-integrity point and it maps</a:t>
            </a:r>
          </a:p>
          <a:p>
            <a:r>
              <a:t>to the 20% "did you pick the right tool" criterion. We split the problem so the</a:t>
            </a:r>
          </a:p>
          <a:p>
            <a:r>
              <a:t>part we can learn honestly is learned, and the part no dataset supports is</a:t>
            </a:r>
          </a:p>
          <a:p>
            <a:r>
              <a:t>computed from physics with every coefficient named and per-vessel calibratable.</a:t>
            </a:r>
          </a:p>
          <a:p/>
          <a:p>
            <a:r>
              <a:t>SERVES (rubric): AI Architecture &amp; Model Fit — 30% of Technical Soundness, so **15% of the total grade**, the single largest sub-criterion there is. See [`docs/DEVIATIONS.md`](DEVIATIONS.md)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5.02% row is the size of the problem. The gap from 0.64%</a:t>
            </a:r>
          </a:p>
          <a:p>
            <a:r>
              <a:t>to 0.09% is why a tree earns its complexity over a straight line. Both baselines</a:t>
            </a:r>
          </a:p>
          <a:p>
            <a:r>
              <a:t>print on every training run, so if the tree ever stops earning it, we'd see it.</a:t>
            </a:r>
          </a:p>
          <a:p/>
          <a:p>
            <a:r>
              <a:t>SERVES (rubric): Technical Soundness (50% final, from the mentor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predictive-maintenance demos overclaim on day one. Ours</a:t>
            </a:r>
          </a:p>
          <a:p>
            <a:r>
              <a:t>physically cannot: the data model rejects a failure-date prediction before the</a:t>
            </a:r>
          </a:p>
          <a:p>
            <a:r>
              <a:t>failure history that would justify it exists.</a:t>
            </a:r>
          </a:p>
          <a:p/>
          <a:p>
            <a:r>
              <a:t>SERVES (rubric): Ethics/Bias (over-claim avoidance); Technical Soundness.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Phase-1 anomaly detector is</a:t>
            </a:r>
          </a:p>
          <a:p>
            <a:r>
              <a:t>**built, tested and live on the display** — a pure-numpy ensemble of a robust</a:t>
            </a:r>
          </a:p>
          <a:p>
            <a:r>
              <a:t>per-stream z-score and a PCA linear autoencoder, served by `POST /maintenance`</a:t>
            </a:r>
          </a:p>
          <a:p>
            <a:r>
              <a:t>and rendered in the bridge Health zone.</a:t>
            </a:r>
          </a:p>
          <a:p>
            <a:r>
              <a:t>The demo beat to rehearse, **re-measured live against the running API on</a:t>
            </a:r>
          </a:p>
          <a:p>
            <a:r>
              <a:t>2026-08-03**: hold the coolant gauge at the *same* reading, 87.4 °C, and change</a:t>
            </a:r>
          </a:p>
          <a:p>
            <a:r>
              <a:t>only how it got there. Reached by a load-coupled rise — coolant, exhaust</a:t>
            </a:r>
          </a:p>
          <a:p>
            <a:r>
              <a:t>temperature, NOx and vibration all moving together the way they do when the</a:t>
            </a:r>
          </a:p>
          <a:p>
            <a:r>
              <a:t>throttle opens — it scores **0.30 and stays nominal**. Reached by a coolant</a:t>
            </a:r>
          </a:p>
          <a:p>
            <a:r>
              <a:t>creep on its own it scores **0.62 and flags**, naming the coolant stream. Same</a:t>
            </a:r>
          </a:p>
          <a:p>
            <a:r>
              <a:t>number on the gauge, opposite verdict: that correlation is what the PCA half</a:t>
            </a:r>
          </a:p>
          <a:p>
            <a:r>
              <a:t>learned, and a threshold detector cannot tell the two apart. Push the creep</a:t>
            </a:r>
          </a:p>
          <a:p>
            <a:r>
              <a:t>further and it saturates — coolant at 98 °C alone scores **0.9998**.</a:t>
            </a:r>
          </a:p>
          <a:p>
            <a:r>
              <a:t>The old "0.09 vs 0.99" pair in this note was **not reproducible** from the API</a:t>
            </a:r>
          </a:p>
          <a:p>
            <a:r>
              <a:t>and has been replaced by the measured figures above. Quote the constant-gauge</a:t>
            </a:r>
          </a:p>
          <a:p>
            <a:r>
              <a:t>pair, not a lone low number: holding the reading fixed is what makes the point</a:t>
            </a:r>
          </a:p>
          <a:p>
            <a:r>
              <a:t>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"AI emissions model" that multiplied litres by a constant</a:t>
            </a:r>
          </a:p>
          <a:p>
            <a:r>
              <a:t>and called it a prediction would be the least defensible thing we could build. So</a:t>
            </a:r>
          </a:p>
          <a:p>
            <a:r>
              <a:t>we don't. The accuracy of the emissions report is inherited, transparently, from</a:t>
            </a:r>
          </a:p>
          <a:p>
            <a:r>
              <a:t>the accuracy of the fuel model.</a:t>
            </a:r>
          </a:p>
          <a:p/>
          <a:p>
            <a:r>
              <a:t>The line to land: **the report refuses to flatter you.** A voyage with no</a:t>
            </a:r>
          </a:p>
          <a:p>
            <a:r>
              <a:t>baseline contributes its fuel and its CO2 to the totals but *not* to the avoided</a:t>
            </a:r>
          </a:p>
          <a:p>
            <a:r>
              <a:t>figure, and the report names how many voyages that was. A month that burned more</a:t>
            </a:r>
          </a:p>
          <a:p>
            <a:r>
              <a:t>than baseline reports as negative. Both of those make the headline number</a:t>
            </a:r>
          </a:p>
          <a:p>
            <a:r>
              <a:t>smaller, and both are why the number is worth anything.</a:t>
            </a:r>
          </a:p>
          <a:p/>
          <a:p>
            <a:r>
              <a:t>SERVES (rubric): Feasibility &amp; Scalability (the only deliverable aimed at the LGU / MARINA / green-finance stakeholder — a third of the problem statement).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built and demonstrable as of</a:t>
            </a:r>
          </a:p>
          <a:p>
            <a:r>
              <a:t>2026-07-26. `POST /voyages` records each crossing on arrival,</a:t>
            </a:r>
          </a:p>
          <a:p>
            <a:r>
              <a:t>`GET /emissions/report.csv` is the export, and there is an "Export month" link</a:t>
            </a:r>
          </a:p>
          <a:p>
            <a:r>
              <a:t>on the display. Live run: four crossings, the first three establish the route</a:t>
            </a:r>
          </a:p>
          <a:p>
            <a:r>
              <a:t>history and honestly report **no baseline**, the fourth is measured against the</a:t>
            </a:r>
          </a:p>
          <a:p>
            <a:r>
              <a:t>median of its own three priors — 2.841 L baseline vs 1.529 L actual,</a:t>
            </a:r>
          </a:p>
          <a:p>
            <a:r>
              <a:t>**+3.52 kg CO2 avoided**, method `own_prior_route`. Demo it in that order; the</a:t>
            </a:r>
          </a:p>
          <a:p>
            <a:r>
              <a:t>first three "no baseline" rows are the point, not a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"one fuel model" pays off. Route isn't a second,</a:t>
            </a:r>
          </a:p>
          <a:p>
            <a:r>
              <a:t>disconnected product with its own cost assumptions — it reuses Speed's model</a:t>
            </a:r>
          </a:p>
          <a:p>
            <a:r>
              <a:t>leg-by-leg, so a judge can't find two numbers that disagree. The forecast</a:t>
            </a:r>
          </a:p>
          <a:p>
            <a:r>
              <a:t>question is the other one worth being ready for: "did you train the Temporal</a:t>
            </a:r>
          </a:p>
          <a:p>
            <a:r>
              <a:t>Fusion Transformer?" The honest answer is better than a yes — a TFT forecasts</a:t>
            </a:r>
          </a:p>
          <a:p>
            <a:r>
              <a:t>from recent observed history, and this endpoint has none to give it (no live</a:t>
            </a:r>
          </a:p>
          <a:p>
            <a:r>
              <a:t>weather feed is wired into route planning, by design). What trains instead is</a:t>
            </a:r>
          </a:p>
          <a:p>
            <a:r>
              <a:t>a position-and-time regression, and even that wasn't shipped as one</a:t>
            </a:r>
          </a:p>
          <a:p>
            <a:r>
              <a:t>architecture: nine targets were raced against a climatological lookup table on</a:t>
            </a:r>
          </a:p>
          <a:p>
            <a:r>
              <a:t>held-out real weather, and the table won on five of them. Both halves shipped.</a:t>
            </a:r>
          </a:p>
          <a:p/>
          <a:p>
            <a:r>
              <a:t>SERVES (rubric): Innovation &amp; Impact; AI Architecture &amp; Model Fit.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route engine, its constraints,</a:t>
            </a:r>
          </a:p>
          <a:p>
            <a:r>
              <a:t>the `POST /route` API and the bridge Route zone that consumes it are built and</a:t>
            </a:r>
          </a:p>
          <a:p>
            <a:r>
              <a:t>tested (334 tests green). The learned forecaster is **built** as of</a:t>
            </a:r>
          </a:p>
          <a:p>
            <a:r>
              <a:t>2026-07-30 (`services/route/train.py`, `docs/DEVIATIONS.md` §13):</a:t>
            </a:r>
          </a:p>
          <a:p>
            <a:r>
              <a:t>gradient-boosted regression for wind/wave direction plus a climatological</a:t>
            </a:r>
          </a:p>
          <a:p>
            <a:r>
              <a:t>lookup table for wind/wave/current magnitude and current direction, trained</a:t>
            </a:r>
          </a:p>
          <a:p>
            <a:r>
              <a:t>and validated against Open-Meteo's real historical archive. `forecast_source`</a:t>
            </a:r>
          </a:p>
          <a:p>
            <a:r>
              <a:t>now reports `"gbm_climatology"`. **A caveat that got stronger, not weaker,</a:t>
            </a:r>
          </a:p>
          <a:p>
            <a:r>
              <a:t>after training on real data:** swept across 16 (month, hour) combinations on</a:t>
            </a:r>
          </a:p>
          <a:p>
            <a:r>
              <a:t>the Muelle-to-Jordan crossing, and separately on a longer 16 nm leg spanning</a:t>
            </a:r>
          </a:p>
          <a:p>
            <a:r>
              <a:t>the full operating box, `savings_l` came back **zero every time** — 2026-07-30.</a:t>
            </a:r>
          </a:p>
          <a:p>
            <a:r>
              <a:t>The trained climatology's spatial variation across a ~20 km box is genuinely</a:t>
            </a:r>
          </a:p>
          <a:p>
            <a:r>
              <a:t>subtler than the analytic field's hand-tuned wind band, which was engineered</a:t>
            </a:r>
          </a:p>
          <a:p>
            <a:r>
              <a:t>specifically to give the offset search something to find. This is the honest</a:t>
            </a:r>
          </a:p>
          <a:p>
            <a:r>
              <a:t>cost of training on real data instead of a demo-shaped one: the model is more</a:t>
            </a:r>
          </a:p>
          <a:p>
            <a:r>
              <a:t>believable and less demoable. Do not promise a nonzero savings figure on</a:t>
            </a:r>
          </a:p>
          <a:p>
            <a:r>
              <a:t>Route without checking it live first. If the pitch needs one, either find a</a:t>
            </a:r>
          </a:p>
          <a:p>
            <a:r>
              <a:t>real leg/time that produces one before the sprint, or present the zero</a:t>
            </a:r>
          </a:p>
          <a:p>
            <a:r>
              <a:t>honestly — "the system checked and confirmed there is nothing to save on this</a:t>
            </a:r>
          </a:p>
          <a:p>
            <a:r>
              <a:t>crossing today" is a legitimate answer for an advisory system to give, and</a:t>
            </a:r>
          </a:p>
          <a:p>
            <a:r>
              <a:t>arguably a better one than a system that always finds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design decision falls out of one scene — a captain who</a:t>
            </a:r>
          </a:p>
          <a:p>
            <a:r>
              <a:t>looks at the screen for under two seconds, twice a minute, one hand on the</a:t>
            </a:r>
          </a:p>
          <a:p>
            <a:r>
              <a:t>throttle. Show the four POV modes / helm view here.</a:t>
            </a:r>
          </a:p>
          <a:p/>
          <a:p>
            <a:r>
              <a:t>SERVES (rubric): Presentation (10%); Innovation &amp; Impact (usability by a non-engineer captain is the impact claim).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maritime liability the advisory boundary is a legal</a:t>
            </a:r>
          </a:p>
          <a:p>
            <a:r>
              <a:t>requirement, not a stylistic choice. So we did not describe it, we built it: the</a:t>
            </a:r>
          </a:p>
          <a:p>
            <a:r>
              <a:t>safety path is a separate module that consults nothing learned, and the test</a:t>
            </a:r>
          </a:p>
          <a:p>
            <a:r>
              <a:t>suite fails if anyone ever imports a model into it. When you are asked "what</a:t>
            </a:r>
          </a:p>
          <a:p>
            <a:r>
              <a:t>happens when your model is wrong" — this is the answer, and it is the one part</a:t>
            </a:r>
          </a:p>
          <a:p>
            <a:r>
              <a:t>of the system that cannot be wrong in a new way.</a:t>
            </a:r>
          </a:p>
          <a:p/>
          <a:p>
            <a:r>
              <a:t>Worth saying out loud: opening the throttle raises coolant and exhaust together</a:t>
            </a:r>
          </a:p>
          <a:p>
            <a:r>
              <a:t>and the *health* model correctly stays nominal, while a coolant cutoff fires the</a:t>
            </a:r>
          </a:p>
          <a:p>
            <a:r>
              <a:t>instant the threshold is crossed regardless of what any model thinks. Two</a:t>
            </a:r>
          </a:p>
          <a:p>
            <a:r>
              <a:t>independent judgements, and the threshold always wins.</a:t>
            </a:r>
          </a:p>
          <a:p/>
          <a:p>
            <a:r>
              <a:t>**The Claude line is the one to slow down on.** Every team at this event will</a:t>
            </a:r>
          </a:p>
          <a:p>
            <a:r>
              <a:t>have an LLM in the stack. The question a technical judge asks is what stops it</a:t>
            </a:r>
          </a:p>
          <a:p>
            <a:r>
              <a:t>from being wrong in public — and "we prompted it carefully" is not an answer.</a:t>
            </a:r>
          </a:p>
          <a:p>
            <a:r>
              <a:t>Ours is: the model is handed a finished sentence and asked to say it better, and</a:t>
            </a:r>
          </a:p>
          <a:p>
            <a:r>
              <a:t>the result is diffed against that sentence before it is displayed. Change a</a:t>
            </a:r>
          </a:p>
          <a:p>
            <a:r>
              <a:t>number, and it is discarded. Open a clause with a command verb, and it is</a:t>
            </a:r>
          </a:p>
          <a:p>
            <a:r>
              <a:t>discarded. The captain sees the deterministic sentence instead, and the panel</a:t>
            </a:r>
          </a:p>
          <a:p>
            <a:r>
              <a:t>says so. That is the difference between an LLM in the product and an LLM in the</a:t>
            </a:r>
          </a:p>
          <a:p>
            <a:r>
              <a:t>decision path, and we are only in the first one.</a:t>
            </a:r>
          </a:p>
          <a:p/>
          <a:p>
            <a:r>
              <a:t>SERVES (rubric): Data Strategy &amp; Ethics — 25% of Technical Soundness, so **12.5% of the total**, more than Presentation is worth.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safety engine is **built,</a:t>
            </a:r>
          </a:p>
          <a:p>
            <a:r>
              <a:t>wired and tested** (13 unit + 4 API tests) as of 2026-07-26. The Claude</a:t>
            </a:r>
          </a:p>
          <a:p>
            <a:r>
              <a:t>advisory layer is **built, wired and tested** as of 2026-07-30</a:t>
            </a:r>
          </a:p>
          <a:p>
            <a:r>
              <a:t>(`services/advisory/`, 28 tests) across the throttle, route and health</a:t>
            </a:r>
          </a:p>
          <a:p>
            <a:r>
              <a:t>sentences. It requires `ANTHROPIC_API_KEY` on the deployed API — **without it</a:t>
            </a:r>
          </a:p>
          <a:p>
            <a:r>
              <a:t>the demo is honest but shows `advisory_source: "template"` throughout**, so</a:t>
            </a:r>
          </a:p>
          <a:p>
            <a:r>
              <a:t>set the key in the Vercel project before recording the screencast, and check</a:t>
            </a:r>
          </a:p>
          <a:p>
            <a:r>
              <a:t>`GET /health` reports `"advisory_layer": "claude"`.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grades "use only licensed or public datasets" and</a:t>
            </a:r>
          </a:p>
          <a:p>
            <a:r>
              <a:t>requires external models cited in the deck — this slide is that requirement,</a:t>
            </a:r>
          </a:p>
          <a:p>
            <a:r>
              <a:t>discharged. Note the three honest caveats we lead with: the anchor dataset is a</a:t>
            </a:r>
          </a:p>
          <a:p>
            <a:r>
              <a:t>gas turbine used only for the *dimensionless* wear penalty; GEBCO is intended but</a:t>
            </a:r>
          </a:p>
          <a:p>
            <a:r>
              <a:t>not yet wired; and C-MAPSS is cited because we evaluated it, not because it</a:t>
            </a:r>
          </a:p>
          <a:p>
            <a:r>
              <a:t>trains anything — the Phase 1 detector learns each vessel's own normal instead,</a:t>
            </a:r>
          </a:p>
          <a:p>
            <a:r>
              <a:t>which is the better fit anyway, since a turbofan's degradation modes are not a</a:t>
            </a:r>
          </a:p>
          <a:p>
            <a:r>
              <a:t>marine diesel's.</a:t>
            </a:r>
          </a:p>
          <a:p/>
          <a:p>
            <a:r>
              <a:t>SERVES (rubric): Data Strategy &amp; Ethics (12.5% of the total); the brief's citation requirement. Full licence disclosure lives in `docs/THIRD-PARTY.md`.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will find these by reading the source. Finding them</a:t>
            </a:r>
          </a:p>
          <a:p>
            <a:r>
              <a:t>here, with the reasoning attached, is a completely different experience from</a:t>
            </a:r>
          </a:p>
          <a:p>
            <a:r>
              <a:t>discovering the paper overstated something. This slide is a trust asset.</a:t>
            </a:r>
          </a:p>
          <a:p/>
          <a:p>
            <a:r>
              <a:t>SERVES (rubric): Technical Soundness; Ethics/Data Integrity; Q&amp;A defence.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criterion is now explicitly about *path to adoption,</a:t>
            </a:r>
          </a:p>
          <a:p>
            <a:r>
              <a:t>sustainability as a venture, and capacity to scale beyond the prototype* — so</a:t>
            </a:r>
          </a:p>
          <a:p>
            <a:r>
              <a:t>lead with the business mechanism, not the technology. We're not asking an</a:t>
            </a:r>
          </a:p>
          <a:p>
            <a:r>
              <a:t>operator to buy a boat; we're asking them to bolt on a sensor kit that pays for</a:t>
            </a:r>
          </a:p>
          <a:p>
            <a:r>
              <a:t>itself in fuel, and the emissions report gives a cooperative or lender a reason</a:t>
            </a:r>
          </a:p>
          <a:p>
            <a:r>
              <a:t>to underwrite the kit up front.</a:t>
            </a:r>
          </a:p>
          <a:p/>
          <a:p>
            <a:r>
              <a:t>Be ready for the venture question: who buys the first hundred units, and what</a:t>
            </a:r>
          </a:p>
          <a:p>
            <a:r>
              <a:t>does the second year look like. The honest framing is a cooperative-level sale —</a:t>
            </a:r>
          </a:p>
          <a:p>
            <a:r>
              <a:t>one operator with a dozen boats — rather than a hundred individual captains,</a:t>
            </a:r>
          </a:p>
          <a:p>
            <a:r>
              <a:t>because the emissions evidence has value at the fleet level where an LGU or</a:t>
            </a:r>
          </a:p>
          <a:p>
            <a:r>
              <a:t>lender is already looking.</a:t>
            </a:r>
          </a:p>
          <a:p/>
          <a:p>
            <a:r>
              <a:t>SERVES (rubric): Feasibility &amp; Scalability (25%).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roadmap is a *named seam in the code today*,</a:t>
            </a:r>
          </a:p>
          <a:p>
            <a:r>
              <a:t>not a wish. The forecaster loads through one function; AIS has a reserved contract</a:t>
            </a:r>
          </a:p>
          <a:p>
            <a:r>
              <a:t>field; depth has a provider protocol. Scaling is wiring, not rewriting.</a:t>
            </a:r>
          </a:p>
          <a:p/>
          <a:p>
            <a:r>
              <a:t>Note the scaling limit honestly if asked: the route forecaster is trained on a</a:t>
            </a:r>
          </a:p>
          <a:p>
            <a:r>
              <a:t>9-point grid over one strait, so a new region is a retraining task on the same</a:t>
            </a:r>
          </a:p>
          <a:p>
            <a:r>
              <a:t>pipeline — not a code change, but not free either. `DATA.md` §Representativeness</a:t>
            </a:r>
          </a:p>
          <a:p>
            <a:r>
              <a:t>states this unprompted, which is the better place for a judge to find it than in</a:t>
            </a:r>
          </a:p>
          <a:p>
            <a:r>
              <a:t>your answer to a hostile question.</a:t>
            </a:r>
          </a:p>
          <a:p/>
          <a:p>
            <a:r>
              <a:t>SERVES (rubric): Feasibility &amp; Scalability (25%); Innovation &amp; Impact (15%).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rubric asks why this team is credible to build AND scale it.</a:t>
            </a:r>
          </a:p>
          <a:p>
            <a:r>
              <a:t>Answer with the split: a hardware-majority team means the sensor spec and the failure</a:t>
            </a:r>
          </a:p>
          <a:p>
            <a:r>
              <a:t>modes are real engineering judgement, not guesses from a laptop — and the AI lead built</a:t>
            </a:r>
          </a:p>
          <a:p>
            <a:r>
              <a:t>the whole software stack, so nothing here is outsourced or glued together. Close on the</a:t>
            </a:r>
          </a:p>
          <a:p>
            <a:r>
              <a:t>retrofit promise and the honesty posture, then invite Q&amp;A: the deviations slide means</a:t>
            </a:r>
          </a:p>
          <a:p>
            <a:r>
              <a:t>we welcome the hard questions.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registry: the code cannot fetch an undeclared source.</a:t>
            </a:r>
          </a:p>
          <a:p>
            <a:r>
              <a:t>If asked whether anything is scraped, the answer is no and the enforcement is</a:t>
            </a:r>
          </a:p>
          <a:p>
            <a:r>
              <a:t>mechanical. Volunteer C-MAPSS before they find it.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behind this slide is "how much of your AI is just an</a:t>
            </a:r>
          </a:p>
          <a:p>
            <a:r>
              <a:t>API call?" Answer: the API call writes English. Everything that produces a number was</a:t>
            </a:r>
          </a:p>
          <a:p>
            <a:r>
              <a:t>trained or written by us. Point at the provenance badge on the live console.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"no hardware" first, without hedging — the brief requires the</a:t>
            </a:r>
          </a:p>
          <a:p>
            <a:r>
              <a:t>declaration in the deck. Then pivot: we know exactly what to buy and in what order,</a:t>
            </a:r>
          </a:p>
          <a:p>
            <a:r>
              <a:t>and the fuel-flow meter is first because it closes the loop on the model.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slide in the reserve deck. Bias 3 is the one to demo</a:t>
            </a:r>
          </a:p>
          <a:p>
            <a:r>
              <a:t>if there is time — a measured before/after, not a claim. The "no baseline" rows are</a:t>
            </a:r>
          </a:p>
          <a:p>
            <a:r>
              <a:t>the point, not a gap.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ask one architecture question it will be "where does the LLM</a:t>
            </a:r>
          </a:p>
          <a:p>
            <a:r>
              <a:t>sit?" — that is the first line. The two boundary tests are the credibility moment: we</a:t>
            </a:r>
          </a:p>
          <a:p>
            <a:r>
              <a:t>did not describe the boundary, we made it fail the build.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judge doubts the ML is real, this is the slide. The 0.86 pooled</a:t>
            </a:r>
          </a:p>
          <a:p>
            <a:r>
              <a:t>figure is deliberately on it — volunteering the weaker number is what makes the</a:t>
            </a:r>
          </a:p>
          <a:p>
            <a:r>
              <a:t>stronger one believable.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organisers asked these three literally. Lead with "no new</a:t>
            </a:r>
          </a:p>
          <a:p>
            <a:r>
              <a:t>hardware to evaluate it" — the lowest-friction sentence we own. The per-vessel baseline</a:t>
            </a:r>
          </a:p>
          <a:p>
            <a:r>
              <a:t>is the technical fact that makes the scaling answer credible rather than aspirational.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Bring this out *before* they find it. A judge who discovers an</a:t>
            </a:r>
          </a:p>
          <a:p>
            <a:r>
              <a:t>unbuilt claim scores it as an overclaim; a team that tabled it first is scored as</a:t>
            </a:r>
          </a:p>
          <a:p>
            <a:r>
              <a:t>rigorous. If asked "what would you fix with one more week?" — the TS test runner, and</a:t>
            </a:r>
          </a:p>
          <a:p>
            <a:r>
              <a:t>the fuel-flow calibration path.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980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0708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81278" y="1783080"/>
            <a:ext cx="525780" cy="1268730"/>
          </a:xfrm>
          <a:prstGeom prst="triangl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87168" y="1828800"/>
            <a:ext cx="9155887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6000" b="1">
                <a:solidFill>
                  <a:srgbClr val="F8FAFC"/>
                </a:solidFill>
                <a:latin typeface="Segoe UI"/>
              </a:rPr>
              <a:t>Marine-AI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A retrofittable AI advisory system for Philippine diesel passenger boats.*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Team SOLMATE · National AI Hackathon 2026 · Blue Economy / Clean Energy track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Public demo URL (must resolve signed-out, or DQ) · private repo URL, organizers added as viewers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problem, in the operator's words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~5,000+ wooden/fiberglass diesel passenger boats in PH inter-island service.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Fuel is the largest controllable operating cost; captains throttle on instinct.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Breakdowns are discovered at sea, not scheduled at the dock.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No emissions evidence → locked out of green financing and LGU/MARINA incentives.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One system, three problems,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97316"/>
                </a:solidFill>
                <a:latin typeface="Consolas"/>
              </a:rPr>
              <a:t>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002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97316"/>
                </a:solidFill>
                <a:latin typeface="Consolas"/>
              </a:rPr>
              <a:t>DECIDE  ·  DETERMINISTIC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00200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97316"/>
                </a:solidFill>
                <a:latin typeface="Consolas"/>
              </a:rPr>
              <a:t>SHOW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938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Engine loom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7 streams · 1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6090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GNSS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position ·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39242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Metocean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wind · wave · current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92938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Speed Optimization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physics + XGBoost wear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66090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Route Optimization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same fuel model per leg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9242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Predictive Maintenance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z-score + PCA autoencoder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12394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Safety cut-offs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rules only · imports no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295144"/>
            <a:ext cx="2880360" cy="128016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One bridge display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console · captain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84962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B6C2D4"/>
                </a:solidFill>
                <a:latin typeface="Segoe UI"/>
              </a:rPr>
              <a:t>Advisory phrasing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Claude · guarded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889504"/>
            <a:ext cx="502920" cy="114300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973568" y="2889504"/>
            <a:ext cx="502920" cy="114300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965192"/>
            <a:ext cx="1087495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B6C2D4"/>
                </a:solidFill>
                <a:latin typeface="Segoe UI"/>
              </a:rPr>
              <a:t>The models predict and detect. They never decide.</a:t>
            </a:r>
            <a:r>
              <a:rPr sz="1100" b="0">
                <a:solidFill>
                  <a:srgbClr val="B6C2D4"/>
                </a:solidFill>
                <a:latin typeface="Segoe UI"/>
              </a:rPr>
              <a:t> The optimiser picks the RPM, the planner picks the track, a rule table trips the alarms — and a test fails if a model is ever imported into the safety path.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422392"/>
            <a:ext cx="10874959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Cross-cutting: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Auditable Emissions Layer</a:t>
            </a:r>
            <a:r>
              <a:rPr sz="1800" b="0">
                <a:solidFill>
                  <a:srgbClr val="F8FAFC"/>
                </a:solidFill>
                <a:latin typeface="Segoe UI"/>
              </a:rPr>
              <a:t> rides on the same fuel model, so it needs no sensor the other three have not already earned.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What is real, and what is declared (HARDWARE DECLARATION)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retrofit hardware in this build. Declared, not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Every telemetry frame carries </a:t>
            </a:r>
            <a:r>
              <a:rPr sz="16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contract has no default that could claim otherwise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packages/contracts/telemetry.py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retrofit sensor kit is *specified* (RPM pickup, EGT probe, IMU, GPS, fuel- flow meter, weather feed) — the model inputs are exactly what that kit produces.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one real sensor path: the console can optionally read </a:t>
            </a:r>
            <a:r>
              <a:rPr sz="1800" b="1">
                <a:solidFill>
                  <a:srgbClr val="F8FAFC"/>
                </a:solidFill>
                <a:latin typeface="Segoe UI"/>
              </a:rPr>
              <a:t>the browser's own GNSS and orientation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, to place the vessel on the chart at your actual position. It feeds the map only.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engine, fuel or temperature stream is ever anything but simulated.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demo drives the real models with simulated telemetry, at real physics.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3/24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1: Speed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Product is not a recommended RPM. Product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delta</a:t>
            </a:r>
            <a:r>
              <a:rPr sz="1800" b="0">
                <a:solidFill>
                  <a:srgbClr val="F8FAFC"/>
                </a:solidFill>
                <a:latin typeface="Segoe UI"/>
              </a:rPr>
              <a:t>: litres/hour saved for the same arrival time.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Physics decides how much power a speed costs in *these* conditions; the fuel model decides how many litres that power burns.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Held-at-ETA optimiser: it never tells you to just go slower — it finds the cheapest throttle that still arrives on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4/24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fuel model is a hybrid (AI STRATEGY / MODEL FIT)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conditions + load → shaft power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</a:t>
            </a:r>
            <a:r>
              <a:rPr sz="1800" b="1">
                <a:solidFill>
                  <a:srgbClr val="F8FAFC"/>
                </a:solidFill>
                <a:latin typeface="Segoe UI"/>
              </a:rPr>
              <a:t>physics</a:t>
            </a:r>
            <a:r>
              <a:rPr sz="1800" b="0">
                <a:solidFill>
                  <a:srgbClr val="F8FAFC"/>
                </a:solidFill>
                <a:latin typeface="Segoe UI"/>
              </a:rPr>
              <a:t> (naval-architecture, calibratable).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shaft power + wear → litres/hour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published diesel BSFC curve × </a:t>
            </a:r>
            <a:r>
              <a:rPr sz="1800" b="1">
                <a:solidFill>
                  <a:srgbClr val="F8FAFC"/>
                </a:solidFill>
                <a:latin typeface="Segoe UI"/>
              </a:rPr>
              <a:t>XGBoost</a:t>
            </a:r>
            <a:r>
              <a:rPr sz="1800" b="0">
                <a:solidFill>
                  <a:srgbClr val="F8FAFC"/>
                </a:solidFill>
                <a:latin typeface="Segoe UI"/>
              </a:rPr>
              <a:t> wear penalty.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Why not end-to-end ML?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public dataset varies wind, current, wave or load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they are constants in it. A model "learning" them would ignore the inputs it acts on while reporting confidence on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5/24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Model validation (TECHNICAL SOUNDNESS)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Mean error, % of fuel burn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Assume every engine is healthy (a system with no fuel map)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5.02%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Linear regression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0.64%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XGBoost 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Validated on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whole held-out wear states</a:t>
            </a:r>
            <a:r>
              <a:rPr sz="1800" b="0">
                <a:solidFill>
                  <a:srgbClr val="F8FAFC"/>
                </a:solidFill>
                <a:latin typeface="Segoe UI"/>
              </a:rPr>
              <a:t> (25% of decay pairs never seen in training) — not a random split, which would leak on a factorial grid.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Honest weakness stated on-slide: </a:t>
            </a:r>
            <a:r>
              <a:rPr sz="1800" b="1">
                <a:solidFill>
                  <a:srgbClr val="F8FAFC"/>
                </a:solidFill>
                <a:latin typeface="Segoe UI"/>
              </a:rPr>
              <a:t>load sampled at only 7 points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wear axis is dense, the load axis is interpolated.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6/24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2: Predictive Maintenance, honest about maturity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Two phases, enforced in code, not just described: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1 (~first 24 months):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"coolant temperature is drifting" — anomaly, never a component-level countdown.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2 (after labelled failure history exists):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component-level RUL.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contract </a:t>
            </a:r>
            <a:r>
              <a:rPr sz="1800" b="1">
                <a:solidFill>
                  <a:srgbClr val="F8FAFC"/>
                </a:solidFill>
                <a:latin typeface="Segoe UI"/>
              </a:rPr>
              <a:t>refuses</a:t>
            </a:r>
            <a:r>
              <a:rPr sz="1800" b="0">
                <a:solidFill>
                  <a:srgbClr val="F8FAFC"/>
                </a:solidFill>
                <a:latin typeface="Segoe UI"/>
              </a:rPr>
              <a:t> to emit a Phase-2 prediction during Phase 1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packages/contracts/maintenance.py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 The honesty commitment is a validator.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00200"/>
            <a:ext cx="320040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Exhaust gas temperature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one sensor, over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83464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Robust z-score + PCA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learns healthy correlations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83464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XGBoost wear model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1,326 degradation states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8620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"Coolant is drifting"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names the stream, never a 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88620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+ litres / hour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the wear priced in fuel</a:t>
            </a:r>
          </a:p>
        </p:txBody>
      </p:sp>
      <p:sp>
        <p:nvSpPr>
          <p:cNvPr id="10" name="Can 9"/>
          <p:cNvSpPr/>
          <p:nvPr/>
        </p:nvSpPr>
        <p:spPr>
          <a:xfrm>
            <a:off x="3703320" y="1837944"/>
            <a:ext cx="640080" cy="114300"/>
          </a:xfrm>
          <a:prstGeom prst="can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772400" y="1837944"/>
            <a:ext cx="640080" cy="114300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754880"/>
            <a:ext cx="1087495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6C2D4"/>
                </a:solidFill>
                <a:latin typeface="Segoe UI"/>
              </a:rPr>
              <a:t>A worn engine runs hotter at the same load. The </a:t>
            </a:r>
            <a:r>
              <a:rPr sz="1100" b="1">
                <a:solidFill>
                  <a:srgbClr val="B6C2D4"/>
                </a:solidFill>
                <a:latin typeface="Segoe UI"/>
              </a:rPr>
              <a:t>detector</a:t>
            </a:r>
            <a:r>
              <a:rPr sz="1100" b="0">
                <a:solidFill>
                  <a:srgbClr val="B6C2D4"/>
                </a:solidFill>
                <a:latin typeface="Segoe UI"/>
              </a:rPr>
              <a:t> reads that as an anomaly; the </a:t>
            </a:r>
            <a:r>
              <a:rPr sz="1100" b="1">
                <a:solidFill>
                  <a:srgbClr val="B6C2D4"/>
                </a:solidFill>
                <a:latin typeface="Segoe UI"/>
              </a:rPr>
              <a:t>fuel model</a:t>
            </a:r>
            <a:r>
              <a:rPr sz="1100" b="0">
                <a:solidFill>
                  <a:srgbClr val="B6C2D4"/>
                </a:solidFill>
                <a:latin typeface="Segoe UI"/>
              </a:rPr>
              <a:t> prices it in litres per hour. So "your engine is degrading" and "it is costing you money" are not two claims — they are one measurement, read twice.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7/24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3: The Auditable Emissions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Monthly </a:t>
            </a:r>
            <a:r>
              <a:rPr sz="1800" b="1">
                <a:solidFill>
                  <a:srgbClr val="F8FAFC"/>
                </a:solidFill>
                <a:latin typeface="Segoe UI"/>
              </a:rPr>
              <a:t>CO₂-avoided</a:t>
            </a:r>
            <a:r>
              <a:rPr sz="1800" b="0">
                <a:solidFill>
                  <a:srgbClr val="F8FAFC"/>
                </a:solidFill>
                <a:latin typeface="Segoe UI"/>
              </a:rPr>
              <a:t> report — exportable evidence for LGU / MARINA compliance and ESG-linked green financing. </a:t>
            </a:r>
            <a:r>
              <a:rPr sz="1800" b="1">
                <a:solidFill>
                  <a:srgbClr val="F8FAFC"/>
                </a:solidFill>
                <a:latin typeface="Segoe UI"/>
              </a:rPr>
              <a:t>Zero extra sensors</a:t>
            </a:r>
            <a:r>
              <a:rPr sz="1800" b="0">
                <a:solidFill>
                  <a:srgbClr val="F8FAFC"/>
                </a:solidFill>
                <a:latin typeface="Segoe UI"/>
              </a:rPr>
              <a:t> beyond Problems 1 &amp; 2.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CO₂ is not predicted — it is chemistry: </a:t>
            </a:r>
            <a:r>
              <a:rPr sz="1800" b="1">
                <a:solidFill>
                  <a:srgbClr val="F8FAFC"/>
                </a:solidFill>
                <a:latin typeface="Segoe UI"/>
              </a:rPr>
              <a:t>2.68 kg CO₂ per litre</a:t>
            </a:r>
            <a:r>
              <a:rPr sz="1800" b="0">
                <a:solidFill>
                  <a:srgbClr val="F8FAFC"/>
                </a:solidFill>
                <a:latin typeface="Segoe UI"/>
              </a:rPr>
              <a:t> of marine diesel, from carbon mass balance, not a tuned constant.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claim that matters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baseline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vessel vs its *own* recorded burn on the *same* route before Marine-AI. Not a fleet average. A month that burned more reports as </a:t>
            </a:r>
            <a:r>
              <a:rPr sz="1800" b="1">
                <a:solidFill>
                  <a:srgbClr val="F8FAFC"/>
                </a:solidFill>
                <a:latin typeface="Segoe UI"/>
              </a:rPr>
              <a:t>negative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floored at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8/24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Route Optimization: shared cost, real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Candidate tracks (direct great-circle + lateral offsets) → each leg costed through the </a:t>
            </a:r>
            <a:r>
              <a:rPr sz="1600" b="1">
                <a:solidFill>
                  <a:srgbClr val="F8FAFC"/>
                </a:solidFill>
                <a:latin typeface="Segoe UI"/>
              </a:rPr>
              <a:t>same</a:t>
            </a:r>
            <a:r>
              <a:rPr sz="1600" b="0">
                <a:solidFill>
                  <a:srgbClr val="F8FAFC"/>
                </a:solidFill>
                <a:latin typeface="Segoe UI"/>
              </a:rPr>
              <a:t> throttle optimiser as Speed. A one-leg route agrees with the throttle advisor </a:t>
            </a:r>
            <a:r>
              <a:rPr sz="1600" b="1">
                <a:solidFill>
                  <a:srgbClr val="F8FAFC"/>
                </a:solidFill>
                <a:latin typeface="Segoe UI"/>
              </a:rPr>
              <a:t>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(enforced by test).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Hard constraints: </a:t>
            </a:r>
            <a:r>
              <a:rPr sz="1600" b="1">
                <a:solidFill>
                  <a:srgbClr val="F8FAFC"/>
                </a:solidFill>
                <a:latin typeface="Segoe UI"/>
              </a:rPr>
              <a:t>charted depth</a:t>
            </a:r>
            <a:r>
              <a:rPr sz="1600" b="0">
                <a:solidFill>
                  <a:srgbClr val="F8FAFC"/>
                </a:solidFill>
                <a:latin typeface="Segoe UI"/>
              </a:rPr>
              <a:t> (a shorter track over a shoal is rejected, not costed)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forecast wave height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Honest baseline delta: savings = direct-route burn − planned-route burn, shown with its real sign.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The forecast behind every leg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trained on 2.5 years of real Open-Meteo reanalysis data</a:t>
            </a:r>
            <a:r>
              <a:rPr sz="1600" b="0">
                <a:solidFill>
                  <a:srgbClr val="F8FAFC"/>
                </a:solidFill>
                <a:latin typeface="Segoe UI"/>
              </a:rPr>
              <a:t>, not a hand-tuned field: gradient-boosted regression for wind/wave direction, a climatological lookup table for the rest — whichever won, per target, on six months of held-out weather.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forecast_source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says </a:t>
            </a:r>
            <a:r>
              <a:rPr sz="1400" b="0">
                <a:solidFill>
                  <a:srgbClr val="B6C2D4"/>
                </a:solidFill>
                <a:latin typeface="Consolas"/>
              </a:rPr>
              <a:t>"gbm_climatology"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response that used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9/24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interface: two seconds on a wet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Dark, high-contrast, oversized type — read at arm's length, in spray, at 05:40.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zones by glance priority: </a:t>
            </a:r>
            <a:r>
              <a:rPr sz="1800" b="1">
                <a:solidFill>
                  <a:srgbClr val="F8FAFC"/>
                </a:solidFill>
                <a:latin typeface="Segoe UI"/>
              </a:rPr>
              <a:t>Throttle</a:t>
            </a:r>
            <a:r>
              <a:rPr sz="1800" b="0">
                <a:solidFill>
                  <a:srgbClr val="F8FAFC"/>
                </a:solidFill>
                <a:latin typeface="Segoe UI"/>
              </a:rPr>
              <a:t> (largest),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800" b="1">
                <a:solidFill>
                  <a:srgbClr val="F8FAFC"/>
                </a:solidFill>
                <a:latin typeface="Segoe UI"/>
              </a:rPr>
              <a:t>Health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all three live, each driven by its own endpoint (</a:t>
            </a:r>
            <a:r>
              <a:rPr sz="16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Each zone </a:t>
            </a:r>
            <a:r>
              <a:rPr sz="1800" b="1">
                <a:solidFill>
                  <a:srgbClr val="F8FAFC"/>
                </a:solidFill>
                <a:latin typeface="Segoe UI"/>
              </a:rPr>
              <a:t>ages independently and visibly</a:t>
            </a:r>
            <a:r>
              <a:rPr sz="1800" b="0">
                <a:solidFill>
                  <a:srgbClr val="F8FAFC"/>
                </a:solidFill>
                <a:latin typeface="Segoe UI"/>
              </a:rPr>
              <a:t>: a route planned at the dock reads in minutes, the throttle advisory in seconds. One shared "last updated" would have made a stale throttle number look as trustworthy as a fresh one.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Persistent trust bar: data freshness, connectivity, and </a:t>
            </a:r>
            <a:r>
              <a:rPr sz="1800" b="1">
                <a:solidFill>
                  <a:srgbClr val="F8FAFC"/>
                </a:solidFill>
                <a:latin typeface="Segoe UI"/>
              </a:rPr>
              <a:t>`ADVISORY ONLY — CAPTAIN COMMANDS`</a:t>
            </a:r>
            <a:r>
              <a:rPr sz="18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Filipino is first-class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a translation afterthought.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10/24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AI-authority boundary (ETHICS)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system never overrides the captain and never actuates the vessel.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Every module advises; the captain decides.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Safety cut-offs are </a:t>
            </a:r>
            <a:r>
              <a:rPr sz="1600" b="1">
                <a:solidFill>
                  <a:srgbClr val="F8FAFC"/>
                </a:solidFill>
                <a:latin typeface="Segoe UI"/>
              </a:rPr>
              <a:t>rule-based and independent of every model</a:t>
            </a:r>
            <a:r>
              <a:rPr sz="1600" b="0">
                <a:solidFill>
                  <a:srgbClr val="F8FAFC"/>
                </a:solidFill>
                <a:latin typeface="Segoe UI"/>
              </a:rPr>
              <a:t> (</a:t>
            </a:r>
            <a:r>
              <a:rPr sz="1400" b="0">
                <a:solidFill>
                  <a:srgbClr val="B6C2D4"/>
                </a:solidFill>
                <a:latin typeface="Consolas"/>
              </a:rPr>
              <a:t>services/safety/rules.py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served at </a:t>
            </a:r>
            <a:r>
              <a:rPr sz="1400" b="0">
                <a:solidFill>
                  <a:srgbClr val="B6C2D4"/>
                </a:solidFill>
                <a:latin typeface="Consolas"/>
              </a:rPr>
              <a:t>POST 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). It imports no model, loads no artifact, and holds no state 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test asserts it can never import one</a:t>
            </a:r>
            <a:r>
              <a:rPr sz="1600" b="0">
                <a:solidFill>
                  <a:srgbClr val="F8FAFC"/>
                </a:solidFill>
                <a:latin typeface="Segoe UI"/>
              </a:rPr>
              <a:t>. Same frame, same verdict, forever.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Thresholds are readable off the page and checkable against an engine manual: coolant ≥105 °C, oil pressure ≤100 kPa, bus voltage outside 12.0–15.8 V, EGT ≥580 °C. A missing sensor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reported as skipped, never assumed safe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Language is never imperative: "1650 RPM saves 2.1 L/h", never "reduce to 1650".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 writes the sentence; it never writes the number.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rewrite is compared against the optimiser's own sentence — same numbers exactly, no imperative clause — and thrown away if it differs.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frame names who wrote what the captain is reading.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model is sized to the job, and we measured it.</a:t>
            </a:r>
            <a:r>
              <a:rPr sz="1600" b="0">
                <a:solidFill>
                  <a:srgbClr val="F8FAFC"/>
                </a:solidFill>
                <a:latin typeface="Segoe UI"/>
              </a:rPr>
              <a:t> Rewriting one 180-character sentence does not need a frontier model. Both were run on the same three advisories: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claude-opus-5</a:t>
            </a:r>
            <a:r>
              <a:rPr sz="1600" b="0">
                <a:solidFill>
                  <a:srgbClr val="F8FAFC"/>
                </a:solidFill>
                <a:latin typeface="Segoe UI"/>
              </a:rPr>
              <a:t> and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claude-haiku-4-5</a:t>
            </a:r>
            <a:r>
              <a:rPr sz="1600" b="0">
                <a:solidFill>
                  <a:srgbClr val="F8FAFC"/>
                </a:solidFill>
                <a:latin typeface="Segoe UI"/>
              </a:rPr>
              <a:t> each passed the guard 3/3 with every number preserved, and Haiku was </a:t>
            </a:r>
            <a:r>
              <a:rPr sz="1600" b="1">
                <a:solidFill>
                  <a:srgbClr val="F8FAFC"/>
                </a:solidFill>
                <a:latin typeface="Segoe UI"/>
              </a:rPr>
              <a:t>2.2× faster at ⅕ the cost</a:t>
            </a:r>
            <a:r>
              <a:rPr sz="1600" b="0">
                <a:solidFill>
                  <a:srgbClr val="F8FAFC"/>
                </a:solidFill>
                <a:latin typeface="Segoe UI"/>
              </a:rPr>
              <a:t> — so </a:t>
            </a:r>
            <a:r>
              <a:rPr sz="1600" b="1">
                <a:solidFill>
                  <a:srgbClr val="F8FAFC"/>
                </a:solidFill>
                <a:latin typeface="Segoe UI"/>
              </a:rPr>
              <a:t>Haiku is what ships</a:t>
            </a:r>
            <a:r>
              <a:rPr sz="1600" b="0">
                <a:solidFill>
                  <a:srgbClr val="F8FAFC"/>
                </a:solidFill>
                <a:latin typeface="Segoe UI"/>
              </a:rPr>
              <a:t>. The guard is provider-agnostic by design — Gemini passes it too — so the layer is a slot, not a dependency.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11/24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Data &amp; models, cited (DATA INTEGRITY — REQUIRED CITATIONS)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*CBM of Naval Propulsion Plants* (gas turbine)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Wear-penalty model, as a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documented proxy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 (UCI ML)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Evaluated for maintenance pretraining;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used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each vessel's own baseline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US Gov 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Published marine-diesel BSFC part-load data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Healthy-burn curve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Literature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 / wave / current forecast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GEBCO bathymetry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Depth constraint *(intended; not yet integrated)*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Satellite basemap / helm horizon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Coastline vector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946904"/>
            <a:ext cx="10874959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dataset is public or licensed; no scraped or unlicensed imagery.</a:t>
            </a:r>
            <a:r>
              <a:rPr sz="1600" b="0">
                <a:solidFill>
                  <a:srgbClr val="F8FAFC"/>
                </a:solidFill>
                <a:latin typeface="Segoe UI"/>
              </a:rPr>
              <a:t> Google/Bing/Esri tiles were considered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rejected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their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12/24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We list our own deviations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We keep a </a:t>
            </a:r>
            <a:r>
              <a:rPr sz="16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every place the build departs from our submitted profile, why, and what it costs. Highlights: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Fuel model is </a:t>
            </a:r>
            <a:r>
              <a:rPr sz="1500" b="1">
                <a:solidFill>
                  <a:srgbClr val="B6C2D4"/>
                </a:solidFill>
                <a:latin typeface="Segoe UI"/>
              </a:rPr>
              <a:t>hybrid</a:t>
            </a:r>
            <a:r>
              <a:rPr sz="1500" b="0">
                <a:solidFill>
                  <a:srgbClr val="B6C2D4"/>
                </a:solidFill>
                <a:latin typeface="Segoe UI"/>
              </a:rPr>
              <a:t>, not end-to-end XGBoost.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Anchor dataset is a </a:t>
            </a:r>
            <a:r>
              <a:rPr sz="1500" b="1">
                <a:solidFill>
                  <a:srgbClr val="B6C2D4"/>
                </a:solidFill>
                <a:latin typeface="Segoe UI"/>
              </a:rPr>
              <a:t>gas turbine</a:t>
            </a:r>
            <a:r>
              <a:rPr sz="1500" b="0">
                <a:solidFill>
                  <a:srgbClr val="B6C2D4"/>
                </a:solidFill>
                <a:latin typeface="Segoe UI"/>
              </a:rPr>
              <a:t> proxy; only the wear penalty transfers — borrowing its part-load curve would have overstated savings ~</a:t>
            </a:r>
            <a:r>
              <a:rPr sz="1500" b="1">
                <a:solidFill>
                  <a:srgbClr val="B6C2D4"/>
                </a:solidFill>
                <a:latin typeface="Segoe UI"/>
              </a:rPr>
              <a:t>5× in our favour</a:t>
            </a:r>
            <a:r>
              <a:rPr sz="1500" b="0">
                <a:solidFill>
                  <a:srgbClr val="B6C2D4"/>
                </a:solidFill>
                <a:latin typeface="Segoe UI"/>
              </a:rPr>
              <a:t>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FEMTO dropped</a:t>
            </a:r>
            <a:r>
              <a:rPr sz="1500" b="0">
                <a:solidFill>
                  <a:srgbClr val="B6C2D4"/>
                </a:solidFill>
                <a:latin typeface="Segoe UI"/>
              </a:rPr>
              <a:t>: it's 25.6 kHz bench data; the spec'd IMU logs at ~1 Hz.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Stack: </a:t>
            </a:r>
            <a:r>
              <a:rPr sz="1500" b="1">
                <a:solidFill>
                  <a:srgbClr val="B6C2D4"/>
                </a:solidFill>
                <a:latin typeface="Segoe UI"/>
              </a:rPr>
              <a:t>ONNX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TFLite) — 85 MB vs 358 MB runtime; </a:t>
            </a:r>
            <a:r>
              <a:rPr sz="1500" b="1">
                <a:solidFill>
                  <a:srgbClr val="B6C2D4"/>
                </a:solidFill>
                <a:latin typeface="Segoe UI"/>
              </a:rPr>
              <a:t>Supabase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Timescale); </a:t>
            </a:r>
            <a:r>
              <a:rPr sz="1500" b="1">
                <a:solidFill>
                  <a:srgbClr val="B6C2D4"/>
                </a:solidFill>
                <a:latin typeface="Segoe UI"/>
              </a:rPr>
              <a:t>Open-Meteo</a:t>
            </a:r>
            <a:r>
              <a:rPr sz="1500" b="0">
                <a:solidFill>
                  <a:srgbClr val="B6C2D4"/>
                </a:solidFill>
                <a:latin typeface="Segoe UI"/>
              </a:rPr>
              <a:t> (PAGASA has no public API).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13/24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Feasibility &amp; scalability (PATH TO ADOPTION)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Retrofit, not replacement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installs on boats already in service; the whole addressable fleet is reachable without new hulls.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 pays, and why they say yes:</a:t>
            </a:r>
            <a:r>
              <a:rPr sz="1800" b="0">
                <a:solidFill>
                  <a:srgbClr val="F8FAFC"/>
                </a:solidFill>
                <a:latin typeface="Segoe UI"/>
              </a:rPr>
              <a:t> the kit is bought out of the fuel it saves. The operator's decision is a payback period, not a capital purchase.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stakeholders, three surfaces: captain (bridge screen), owner/cooperative (savings + emissions report), LGU/MARINA/ESG lenders (exported evidence) — and the third is what makes this fundable rather than merely useful.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Runs as a </a:t>
            </a:r>
            <a:r>
              <a:rPr sz="1800" b="1">
                <a:solidFill>
                  <a:srgbClr val="F8FAFC"/>
                </a:solidFill>
                <a:latin typeface="Segoe UI"/>
              </a:rPr>
              <a:t>serverless function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(85 MB serving image) — cheap to operate, same argument for an on-vessel edge unit.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14/24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Per-vessel </a:t>
            </a:r>
            <a:r>
              <a:rPr sz="1800" b="1">
                <a:solidFill>
                  <a:srgbClr val="F8FAFC"/>
                </a:solidFill>
                <a:latin typeface="Segoe UI"/>
              </a:rPr>
              <a:t>calibration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physics coefficients fit to each boat's own fuel-flow meter (</a:t>
            </a:r>
            <a:r>
              <a:rPr sz="1600" b="0">
                <a:solidFill>
                  <a:srgbClr val="B6C2D4"/>
                </a:solidFill>
                <a:latin typeface="Consolas"/>
              </a:rPr>
              <a:t>calibrate_admiralty</a:t>
            </a:r>
            <a:r>
              <a:rPr sz="1800" b="0">
                <a:solidFill>
                  <a:srgbClr val="F8FAFC"/>
                </a:solidFill>
                <a:latin typeface="Segoe UI"/>
              </a:rPr>
              <a:t>) — the model becomes a model of *that* boat.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Fleet path: same schema scales from one boat to a cooperative's fleet; SQL is portable to TimescaleDB when volume justifies it.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Near-term: wire GEBCO depth; train the route forecaster on the Open-Meteo archive; fit per-vessel health baselines from logged telemetry in place of the demo default; PAGASA integration via data-sharing.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Longer-term: AIS traffic avoidance (reserved in the contract today).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15/24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Team &amp;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Contribution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Jan Lynnard Sanchez Rolando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Project Lead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Direction and scope. Retrofit hardware concept, and the first-generation AI work the shipped models grew out of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Adrian Justin Salinas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AI &amp; Software Lead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Owns the AI infrastructure end to end — the three modules, the trained models, the API, the console, and the data-ethics and deviations record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Ramiex Brylle Estudillo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Hardware &amp; Predictive Maintenance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Sensor and engine-loom specification; the degradation and duty-cycle mathematics behind Phase 1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Kaiser Calasara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Systems Logic &amp; Hardware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Control and failure logic; predictive-maintenance modelling and the supporting mathematics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Angel Faithe Torrefranca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Pitch &amp; Communications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Narrative, delivery, and how the system is explained to operators and judges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178808"/>
            <a:ext cx="10874959" cy="1856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Four of five of us are hardware people.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That is the point: this is a *retrofit* for boats that already exist, specified by people who know the engine room, with the AI built to serve it rather than the other way round.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One line: *"Marine-AI: less fuel, fewer breakdowns, and the receipts to prove it — on the boats that are already out there."*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Live demo: solmate-marine-ai.vercel.app</a:t>
            </a:r>
            <a:r>
              <a:rPr sz="1600" b="0">
                <a:solidFill>
                  <a:srgbClr val="F8FAFC"/>
                </a:solidFill>
                <a:latin typeface="Segoe UI"/>
              </a:rPr>
              <a:t> · repo · screencast · this deck.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16/24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01 · Dataset declarations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4991"/>
                <a:gridCol w="2174991"/>
                <a:gridCol w="2174991"/>
                <a:gridCol w="2174991"/>
                <a:gridCol w="217499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Format &amp; size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Purpose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Preprocessing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CBM (Coraddu et al., 2014)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CSV, 1,326 wear states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Wear→fuel penalty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 states held out of training; ratio-against-healthy cancels boundary bias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ERA5 archive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JSON, 2.5 yr × 9-pt grid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Wind/wave direction targets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sin/cos decomposition — direction is circular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 archive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JSON, same grid &amp; range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Wave + current targets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Magnitudes → climatological lookup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WMS raster, 2800×2154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Basemap + helm land mask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Native 10 m/px; binarised to a water mask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 10m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Shapefile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Chart coastline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Projected via </a:t>
                      </a:r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build_chart.normalise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OpenSeaMap seamarks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Overpass JSON → 2.9 kB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10 charted lights, 8 lit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Build-time fetch, committed extract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ODbL 1.0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562856"/>
            <a:ext cx="10874959" cy="1472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Registered but consumed by nothing: NASA C-MAPSS.</a:t>
            </a:r>
            <a:r>
              <a:rPr sz="1600" b="0">
                <a:solidFill>
                  <a:srgbClr val="F8FAFC"/>
                </a:solidFill>
                <a:latin typeface="Segoe UI"/>
              </a:rPr>
              <a:t> It is the intended Phase 2 corpus and pretrains nothing today. </a:t>
            </a:r>
            <a:r>
              <a:rPr sz="1400" b="0">
                <a:solidFill>
                  <a:srgbClr val="B6C2D4"/>
                </a:solidFill>
                <a:latin typeface="Consolas"/>
              </a:rPr>
              <a:t>git grep cmapss -- '*.py'</a:t>
            </a:r>
            <a:r>
              <a:rPr sz="1600" b="0">
                <a:solidFill>
                  <a:srgbClr val="F8FAFC"/>
                </a:solidFill>
                <a:latin typeface="Segoe UI"/>
              </a:rPr>
              <a:t> returns </a:t>
            </a:r>
            <a:r>
              <a:rPr sz="1400" b="0">
                <a:solidFill>
                  <a:srgbClr val="B6C2D4"/>
                </a:solidFill>
                <a:latin typeface="Consolas"/>
              </a:rPr>
              <a:t>data/registry.py</a:t>
            </a:r>
            <a:r>
              <a:rPr sz="1600" b="0">
                <a:solidFill>
                  <a:srgbClr val="F8FAFC"/>
                </a:solidFill>
                <a:latin typeface="Segoe UI"/>
              </a:rPr>
              <a:t> and nothing else.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source is declared in `data/registry.py`, and the download tooling refuses to fetch anything undeclared.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That is the control — not a policy sentence.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17/24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02 · AI tools &amp; external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2718739"/>
                <a:gridCol w="2718739"/>
                <a:gridCol w="271874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Artefact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Origin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Fuel-wear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XGBoost, 400 est. →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ONNX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fuel_degradation.onnx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(364 kB)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Trained by us on UCI CBM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Route forecaster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XGBoost →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4 × ONNX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(wind/wave dir, sin+cos)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models/route_forecast/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Trained by us on Open-Meteo ERA5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Route magnitudes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Climatological lookup table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in-process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Derived by us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Anomaly detector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Robust z-score +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PCA linear autoencoder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pure NumPy, fitted at runtime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Written by us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Advisory phrasing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Claude Haiku 4.5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, Anthropic API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services/advisory/phraser.py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External — phrasing only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178808"/>
            <a:ext cx="10874959" cy="1856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No third-party model weights ship in this repo.</a:t>
            </a:r>
            <a:r>
              <a:rPr sz="1600" b="0">
                <a:solidFill>
                  <a:srgbClr val="F8FAFC"/>
                </a:solidFill>
                <a:latin typeface="Segoe UI"/>
              </a:rPr>
              <a:t> Five ONNX files, all ours.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Claude's scope, stated precisely:</a:t>
            </a:r>
            <a:r>
              <a:rPr sz="1600" b="0">
                <a:solidFill>
                  <a:srgbClr val="F8FAFC"/>
                </a:solidFill>
                <a:latin typeface="Segoe UI"/>
              </a:rPr>
              <a:t> it re-words a sentence the deterministic modules already produced. The rewrite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discarded</a:t>
            </a:r>
            <a:r>
              <a:rPr sz="1600" b="0">
                <a:solidFill>
                  <a:srgbClr val="F8FAFC"/>
                </a:solidFill>
                <a:latin typeface="Segoe UI"/>
              </a:rPr>
              <a:t> if it changes a number or issues an order.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reports </a:t>
            </a:r>
            <a:r>
              <a:rPr sz="1400" b="0">
                <a:solidFill>
                  <a:srgbClr val="B6C2D4"/>
                </a:solidFill>
                <a:latin typeface="Consolas"/>
              </a:rPr>
              <a:t>"claude"</a:t>
            </a:r>
            <a:r>
              <a:rPr sz="1600" b="0">
                <a:solidFill>
                  <a:srgbClr val="F8FAFC"/>
                </a:solidFill>
                <a:latin typeface="Segoe UI"/>
              </a:rPr>
              <a:t> or </a:t>
            </a:r>
            <a:r>
              <a:rPr sz="1400" b="0">
                <a:solidFill>
                  <a:srgbClr val="B6C2D4"/>
                </a:solidFill>
                <a:latin typeface="Consolas"/>
              </a:rPr>
              <a:t>"template"</a:t>
            </a:r>
            <a:r>
              <a:rPr sz="1600" b="0">
                <a:solidFill>
                  <a:srgbClr val="F8FAFC"/>
                </a:solidFill>
                <a:latin typeface="Segoe UI"/>
              </a:rPr>
              <a:t> per frame, visible on the console.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18/24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03 · Hardware disclosure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No hardware was used. Declared, not discovered.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contract default is </a:t>
            </a:r>
            <a:r>
              <a:rPr sz="14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600" b="0">
                <a:solidFill>
                  <a:srgbClr val="F8FAFC"/>
                </a:solidFill>
                <a:latin typeface="Segoe UI"/>
              </a:rPr>
              <a:t>, so no telemetry frame can claim otherwise.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Telemetry is an </a:t>
            </a:r>
            <a:r>
              <a:rPr sz="1600" b="1">
                <a:solidFill>
                  <a:srgbClr val="F8FAFC"/>
                </a:solidFill>
                <a:latin typeface="Segoe UI"/>
              </a:rPr>
              <a:t>engine-loom emulation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in </a:t>
            </a:r>
            <a:r>
              <a:rPr sz="1400" b="0">
                <a:solidFill>
                  <a:srgbClr val="B6C2D4"/>
                </a:solidFill>
                <a:latin typeface="Consolas"/>
              </a:rPr>
              <a:t>apps/bridge/lib/telemetry.ts</a:t>
            </a:r>
            <a:r>
              <a:rPr sz="1600" b="0">
                <a:solidFill>
                  <a:srgbClr val="F8FAFC"/>
                </a:solidFill>
                <a:latin typeface="Segoe UI"/>
              </a:rPr>
              <a:t>, driven by the same baseline constants the Python detector scores against.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What a real retrofit needs, in install order: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00200"/>
          <a:ext cx="108749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Sensor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Feeds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Why it matters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Fuel-flow meter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Calibrates the hybrid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The load-bearing one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turns a mis-specified physics coefficient into a measurable one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Engine loom taps — RPM, EGT, coolant, oil pressure, battery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/maintenance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, </a:t>
                      </a:r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/safety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The five streams the detector scores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GNSS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/route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, voyage log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Position and speed over ground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IMU (~1 Hz)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Duty cycle, sea state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~1 Hz is the honest ceiling — see the bias slide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19/24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04 · Bias &amp; responsible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Bias identified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Mitigation shipped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Prime-mover bias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UCI CBM is a *gas turbine*, not a diesel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Only the dimensionless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wear penalty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transfers. Healthy burn comes from published diesel BSFC. A regression test pins the diesel curve inside published part-load bands so it can never drift back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Sampling bias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wind, current, wave and load do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vary at all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in UCI CBM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The model does not claim to have learned them. Physics carries conditions→power; ML carries wear→fuel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Reference-vessel bias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a fleet-average baseline flags a healthy odd vessel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The detector fits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each vessel's own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baseline. Measured: a healthy 24 V loom against a 12 V reference scored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1.000 anomalous, battery z = +75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; with its own baseline,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0.032 and clear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while a +9 °C coolant drift still fires at 1.000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Sensor-capability bias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FEMTO is 25.6 kHz, our IMU ~1 Hz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Dataset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dropped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. Using it would imply a diagnostic the sensor physically cannot deliver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Self-serving baseline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a counterfactual we pick flatters us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Emissions baseline is </a:t>
                      </a:r>
                      <a:r>
                        <a:rPr sz="1100" b="0">
                          <a:solidFill>
                            <a:srgbClr val="B6C2D4"/>
                          </a:solidFill>
                          <a:latin typeface="Consolas"/>
                        </a:rPr>
                        <a:t>own_prior_route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, the median fuel/nm of ≥3 prior runs. The first three crossings honestly report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"no baseline"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178808"/>
            <a:ext cx="10874959" cy="1856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Language: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advisories are English and Filipino, guarded — numbers preserved exactly, no imperative mood.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20/24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05 · Extended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Three deterministic modules decide · one LLM phrases · the captain commands.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Eight endpoints on one FastAPI service: </a:t>
            </a:r>
            <a:r>
              <a:rPr sz="14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/voyages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/emissions/report(.csv)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/health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Cadence, measured: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600" b="0">
                <a:solidFill>
                  <a:srgbClr val="F8FAFC"/>
                </a:solidFill>
                <a:latin typeface="Segoe UI"/>
              </a:rPr>
              <a:t> 1 s · </a:t>
            </a:r>
            <a:r>
              <a:rPr sz="14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600" b="0">
                <a:solidFill>
                  <a:srgbClr val="F8FAFC"/>
                </a:solidFill>
                <a:latin typeface="Segoe UI"/>
              </a:rPr>
              <a:t> 4 s · </a:t>
            </a:r>
            <a:r>
              <a:rPr sz="14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event-driven with a 30 s floor. Route is planned at the dock; throttle is per-second.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Two boundaries enforced by tests, not prose:</a:t>
            </a:r>
          </a:p>
          <a:p>
            <a:pPr lvl="1">
              <a:spcAft>
                <a:spcPts val="900"/>
              </a:spcAft>
            </a:pPr>
            <a:r>
              <a:rPr sz="1350">
                <a:solidFill>
                  <a:srgbClr val="B6C2D4"/>
                </a:solidFill>
                <a:latin typeface="Segoe UI"/>
              </a:rPr>
              <a:t>· </a:t>
            </a:r>
            <a:r>
              <a:rPr sz="1150" b="0">
                <a:solidFill>
                  <a:srgbClr val="B6C2D4"/>
                </a:solidFill>
                <a:latin typeface="Consolas"/>
              </a:rPr>
              <a:t>test_safety_never_imports_a_model</a:t>
            </a:r>
            <a:r>
              <a:rPr sz="1350" b="0">
                <a:solidFill>
                  <a:srgbClr val="B6C2D4"/>
                </a:solidFill>
                <a:latin typeface="Segoe UI"/>
              </a:rPr>
              <a:t> greps the safety module for </a:t>
            </a:r>
            <a:r>
              <a:rPr sz="1150" b="0">
                <a:solidFill>
                  <a:srgbClr val="B6C2D4"/>
                </a:solidFill>
                <a:latin typeface="Consolas"/>
              </a:rPr>
              <a:t>services.speed</a:t>
            </a:r>
            <a:r>
              <a:rPr sz="1350" b="0">
                <a:solidFill>
                  <a:srgbClr val="B6C2D4"/>
                </a:solidFill>
                <a:latin typeface="Segoe UI"/>
              </a:rPr>
              <a:t>, </a:t>
            </a:r>
            <a:r>
              <a:rPr sz="1150" b="0">
                <a:solidFill>
                  <a:srgbClr val="B6C2D4"/>
                </a:solidFill>
                <a:latin typeface="Consolas"/>
              </a:rPr>
              <a:t>services.maintenance</a:t>
            </a:r>
            <a:r>
              <a:rPr sz="1350" b="0">
                <a:solidFill>
                  <a:srgbClr val="B6C2D4"/>
                </a:solidFill>
                <a:latin typeface="Segoe UI"/>
              </a:rPr>
              <a:t>, </a:t>
            </a:r>
            <a:r>
              <a:rPr sz="1150" b="0">
                <a:solidFill>
                  <a:srgbClr val="B6C2D4"/>
                </a:solidFill>
                <a:latin typeface="Consolas"/>
              </a:rPr>
              <a:t>onnxruntime</a:t>
            </a:r>
            <a:r>
              <a:rPr sz="1350" b="0">
                <a:solidFill>
                  <a:srgbClr val="B6C2D4"/>
                </a:solidFill>
                <a:latin typeface="Segoe UI"/>
              </a:rPr>
              <a:t>, </a:t>
            </a:r>
            <a:r>
              <a:rPr sz="1150" b="0">
                <a:solidFill>
                  <a:srgbClr val="B6C2D4"/>
                </a:solidFill>
                <a:latin typeface="Consolas"/>
              </a:rPr>
              <a:t>numpy</a:t>
            </a:r>
            <a:r>
              <a:rPr sz="1350" b="0">
                <a:solidFill>
                  <a:srgbClr val="B6C2D4"/>
                </a:solidFill>
                <a:latin typeface="Segoe UI"/>
              </a:rPr>
              <a:t>. Safety stays rule-based.</a:t>
            </a:r>
          </a:p>
          <a:p>
            <a:pPr lvl="1">
              <a:spcAft>
                <a:spcPts val="900"/>
              </a:spcAft>
            </a:pPr>
            <a:r>
              <a:rPr sz="1350">
                <a:solidFill>
                  <a:srgbClr val="B6C2D4"/>
                </a:solidFill>
                <a:latin typeface="Segoe UI"/>
              </a:rPr>
              <a:t>· </a:t>
            </a:r>
            <a:r>
              <a:rPr sz="1150" b="0">
                <a:solidFill>
                  <a:srgbClr val="B6C2D4"/>
                </a:solidFill>
                <a:latin typeface="Consolas"/>
              </a:rPr>
              <a:t>test_duty_never_moves_the_anomaly_score</a:t>
            </a:r>
            <a:r>
              <a:rPr sz="1350" b="0">
                <a:solidFill>
                  <a:srgbClr val="B6C2D4"/>
                </a:solidFill>
                <a:latin typeface="Segoe UI"/>
              </a:rPr>
              <a:t> — working an engine hard is exposure, not a fault. Otherwise every busy crossing lights the strip and crews learn to ignore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Degrades rather than fails:</a:t>
            </a:r>
            <a:r>
              <a:rPr sz="1600" b="0">
                <a:solidFill>
                  <a:srgbClr val="F8FAFC"/>
                </a:solidFill>
                <a:latin typeface="Segoe UI"/>
              </a:rPr>
              <a:t> missing artefact → analytic default; Postgres down → SQLite; Claude unreachable → deterministic template. </a:t>
            </a:r>
            <a:r>
              <a:rPr sz="1600" b="1">
                <a:solidFill>
                  <a:srgbClr val="F8FAFC"/>
                </a:solidFill>
                <a:latin typeface="Segoe UI"/>
              </a:rPr>
              <a:t>A missing model never produces a missing answer.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334 tests passing.</a:t>
            </a:r>
            <a:r>
              <a:rPr sz="1600" b="0">
                <a:solidFill>
                  <a:srgbClr val="F8FAFC"/>
                </a:solidFill>
                <a:latin typeface="Segoe UI"/>
              </a:rPr>
              <a:t> Serving image is </a:t>
            </a:r>
            <a:r>
              <a:rPr sz="1400" b="0">
                <a:solidFill>
                  <a:srgbClr val="B6C2D4"/>
                </a:solidFill>
                <a:latin typeface="Consolas"/>
              </a:rPr>
              <a:t>fastapi, pydantic, numpy, onnxruntime</a:t>
            </a:r>
            <a:r>
              <a:rPr sz="1600" b="0">
                <a:solidFill>
                  <a:srgbClr val="F8FAFC"/>
                </a:solidFill>
                <a:latin typeface="Segoe UI"/>
              </a:rPr>
              <a:t> — no </a:t>
            </a:r>
            <a:r>
              <a:rPr sz="1400" b="0">
                <a:solidFill>
                  <a:srgbClr val="B6C2D4"/>
                </a:solidFill>
                <a:latin typeface="Consolas"/>
              </a:rPr>
              <a:t>xgboost</a:t>
            </a:r>
            <a:r>
              <a:rPr sz="1600" b="0">
                <a:solidFill>
                  <a:srgbClr val="F8FAFC"/>
                </a:solidFill>
                <a:latin typeface="Segoe UI"/>
              </a:rPr>
              <a:t>, </a:t>
            </a:r>
            <a:r>
              <a:rPr sz="1400" b="0">
                <a:solidFill>
                  <a:srgbClr val="B6C2D4"/>
                </a:solidFill>
                <a:latin typeface="Consolas"/>
              </a:rPr>
              <a:t>scikit-learn</a:t>
            </a:r>
            <a:r>
              <a:rPr sz="1600" b="0">
                <a:solidFill>
                  <a:srgbClr val="F8FAFC"/>
                </a:solidFill>
                <a:latin typeface="Segoe UI"/>
              </a:rPr>
              <a:t>, </a:t>
            </a:r>
            <a:r>
              <a:rPr sz="1400" b="0">
                <a:solidFill>
                  <a:srgbClr val="B6C2D4"/>
                </a:solidFill>
                <a:latin typeface="Consolas"/>
              </a:rPr>
              <a:t>scipy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</a:t>
            </a:r>
            <a:r>
              <a:rPr sz="1400" b="0">
                <a:solidFill>
                  <a:srgbClr val="B6C2D4"/>
                </a:solidFill>
                <a:latin typeface="Consolas"/>
              </a:rPr>
              <a:t>pandas</a:t>
            </a:r>
            <a:r>
              <a:rPr sz="1600" b="0">
                <a:solidFill>
                  <a:srgbClr val="F8FAFC"/>
                </a:solidFill>
                <a:latin typeface="Segoe UI"/>
              </a:rPr>
              <a:t> or </a:t>
            </a:r>
            <a:r>
              <a:rPr sz="1400" b="0">
                <a:solidFill>
                  <a:srgbClr val="B6C2D4"/>
                </a:solidFill>
                <a:latin typeface="Consolas"/>
              </a:rPr>
              <a:t>torch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21/24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06 · Model validation, with the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Wear→fuel bridge: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EGT-excess-over-baseline as the wear signal, </a:t>
            </a:r>
            <a:r>
              <a:rPr sz="1600" b="1">
                <a:solidFill>
                  <a:srgbClr val="F8FAFC"/>
                </a:solidFill>
                <a:latin typeface="Segoe UI"/>
              </a:rPr>
              <a:t>r = 0.97–0.997 at fixed load</a:t>
            </a:r>
            <a:r>
              <a:rPr sz="1600" b="0">
                <a:solidFill>
                  <a:srgbClr val="F8FAFC"/>
                </a:solidFill>
                <a:latin typeface="Segoe UI"/>
              </a:rPr>
              <a:t> (mean 0.986 across seven load points). Say *"at fixed load"* out loud — pooled across loads 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0.86</a:t>
            </a:r>
            <a:r>
              <a:rPr sz="1600" b="0">
                <a:solidFill>
                  <a:srgbClr val="F8FAFC"/>
                </a:solidFill>
                <a:latin typeface="Segoe UI"/>
              </a:rPr>
              <a:t>, because load moves both variables. That is exactly why </a:t>
            </a:r>
            <a:r>
              <a:rPr sz="1400" b="0">
                <a:solidFill>
                  <a:srgbClr val="B6C2D4"/>
                </a:solidFill>
                <a:latin typeface="Consolas"/>
              </a:rPr>
              <a:t>load_fraction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is the model's second feature rather than a nuisance to be averaged away.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ONNX export is gated: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train.py</a:t>
            </a:r>
            <a:r>
              <a:rPr sz="1600" b="0">
                <a:solidFill>
                  <a:srgbClr val="F8FAFC"/>
                </a:solidFill>
                <a:latin typeface="Segoe UI"/>
              </a:rPr>
              <a:t> refuses to write a model drifting &gt;1e-4 from the trained booster. Observed </a:t>
            </a:r>
            <a:r>
              <a:rPr sz="1600" b="1">
                <a:solidFill>
                  <a:srgbClr val="F8FAFC"/>
                </a:solidFill>
                <a:latin typeface="Segoe UI"/>
              </a:rPr>
              <a:t>1.5e-6</a:t>
            </a:r>
            <a:r>
              <a:rPr sz="1600" b="0">
                <a:solidFill>
                  <a:srgbClr val="F8FAFC"/>
                </a:solidFill>
                <a:latin typeface="Segoe UI"/>
              </a:rPr>
              <a:t>. Serving stack </a:t>
            </a:r>
            <a:r>
              <a:rPr sz="1600" b="1">
                <a:solidFill>
                  <a:srgbClr val="F8FAFC"/>
                </a:solidFill>
                <a:latin typeface="Segoe UI"/>
              </a:rPr>
              <a:t>358 MB → 85 MB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Route agrees with Speed 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— </a:t>
            </a:r>
            <a:r>
              <a:rPr sz="1400" b="0">
                <a:solidFill>
                  <a:srgbClr val="B6C2D4"/>
                </a:solidFill>
                <a:latin typeface="Consolas"/>
              </a:rPr>
              <a:t>test_one_leg_route_agrees_with_the_throttle_optimizer</a:t>
            </a:r>
            <a:r>
              <a:rPr sz="1600" b="0">
                <a:solidFill>
                  <a:srgbClr val="F8FAFC"/>
                </a:solidFill>
                <a:latin typeface="Segoe UI"/>
              </a:rPr>
              <a:t>. One shared fuel model; the test fails if the two modules ever diverge.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load-bearing demo beat:</a:t>
            </a:r>
            <a:r>
              <a:rPr sz="1600" b="0">
                <a:solidFill>
                  <a:srgbClr val="F8FAFC"/>
                </a:solidFill>
                <a:latin typeface="Segoe UI"/>
              </a:rPr>
              <a:t> open the throttle and coolant *and* EGT rise together → the panel stays </a:t>
            </a:r>
            <a:r>
              <a:rPr sz="1600" b="1">
                <a:solidFill>
                  <a:srgbClr val="F8FAFC"/>
                </a:solidFill>
                <a:latin typeface="Segoe UI"/>
              </a:rPr>
              <a:t>nominal, 0.09</a:t>
            </a:r>
            <a:r>
              <a:rPr sz="1600" b="0">
                <a:solidFill>
                  <a:srgbClr val="F8FAFC"/>
                </a:solidFill>
                <a:latin typeface="Segoe UI"/>
              </a:rPr>
              <a:t>. That correlation is what the PCA half learned. Inject a coolant creep alone → </a:t>
            </a:r>
            <a:r>
              <a:rPr sz="1600" b="1">
                <a:solidFill>
                  <a:srgbClr val="F8FAFC"/>
                </a:solidFill>
                <a:latin typeface="Segoe UI"/>
              </a:rPr>
              <a:t>0.99</a:t>
            </a:r>
            <a:r>
              <a:rPr sz="1600" b="0">
                <a:solidFill>
                  <a:srgbClr val="F8FAFC"/>
                </a:solidFill>
                <a:latin typeface="Segoe UI"/>
              </a:rPr>
              <a:t>, naming the coolant stream.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threshold detector alarms on the first 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In flat weather `/route` honestly returns the direct track with zero saving.</a:t>
            </a:r>
            <a:r>
              <a:rPr sz="1600" b="0">
                <a:solidFill>
                  <a:srgbClr val="F8FAFC"/>
                </a:solidFill>
                <a:latin typeface="Segoe UI"/>
              </a:rPr>
              <a:t> Correct, not a bug — place a weather cell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22/24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07 · Feasibility: the three practical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Our answer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How easy is it to start?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 new hardware to evaluate it.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The console runs on simulated telemetry, so an operator sees their own route, vessel and fuel numbers before buying a single sensor. Retrofit is incremental — the fuel-flow meter alone unlocks the fuel claim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How do you survive 18 months?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Months 1–6: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R&amp;D grant — finish Phase 2 RUL and the MQTT edge path, no sales pressure.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Months 6–12: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one paid pilot with a named operator through a high-risk season.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Month 12+: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annual subscription, priced per vessel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How does it grow without breaking?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Each new vessel costs one baseline fit, not a retrained fleet model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that vessel's own normal. Stateless HTTP, so scaling is replicas. ONNX is small enough to run on-device, which matters because the Iloilo Strait has no reliable connectivity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Tie it to a real loss:</a:t>
            </a:r>
            <a:r>
              <a:rPr sz="1600" b="0">
                <a:solidFill>
                  <a:srgbClr val="F8FAFC"/>
                </a:solidFill>
                <a:latin typeface="Segoe UI"/>
              </a:rPr>
              <a:t> one breakdown mid-strait strands a full passenger load and costs a day's revenue. One un-forecast squall costs a crossing.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We are not claiming millions in Year 1.</a:t>
            </a:r>
            <a:r>
              <a:rPr sz="1600" b="0">
                <a:solidFill>
                  <a:srgbClr val="F8FAFC"/>
                </a:solidFill>
                <a:latin typeface="Segoe UI"/>
              </a:rPr>
              <a:t> One pilot operator, measured.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23/24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RESERVE 08 · What is NOT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We keep </a:t>
            </a:r>
            <a:r>
              <a:rPr sz="1400" b="0">
                <a:solidFill>
                  <a:srgbClr val="B6C2D4"/>
                </a:solidFill>
                <a:latin typeface="Consolas"/>
              </a:rPr>
              <a:t>docs/DEVIATIONS.md</a:t>
            </a:r>
            <a:r>
              <a:rPr sz="1600" b="0">
                <a:solidFill>
                  <a:srgbClr val="F8FAFC"/>
                </a:solidFill>
                <a:latin typeface="Segoe UI"/>
              </a:rPr>
              <a:t>: </a:t>
            </a:r>
            <a:r>
              <a:rPr sz="1600" b="1">
                <a:solidFill>
                  <a:srgbClr val="F8FAFC"/>
                </a:solidFill>
                <a:latin typeface="Segoe UI"/>
              </a:rPr>
              <a:t>12 deliberate departures</a:t>
            </a:r>
            <a:r>
              <a:rPr sz="1600" b="0">
                <a:solidFill>
                  <a:srgbClr val="F8FAFC"/>
                </a:solidFill>
                <a:latin typeface="Segoe UI"/>
              </a:rPr>
              <a:t> from our submitted profile, each with reasoning — plus a </a:t>
            </a:r>
            <a:r>
              <a:rPr sz="1600" b="1">
                <a:solidFill>
                  <a:srgbClr val="F8FAFC"/>
                </a:solidFill>
                <a:latin typeface="Segoe UI"/>
              </a:rPr>
              <a:t>"Still outstanding"</a:t>
            </a:r>
            <a:r>
              <a:rPr sz="1600" b="0">
                <a:solidFill>
                  <a:srgbClr val="F8FAFC"/>
                </a:solidFill>
                <a:latin typeface="Segoe UI"/>
              </a:rPr>
              <a:t> table of what is simply not built.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00200"/>
          <a:ext cx="108749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Profile says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MPC loop re-solves the route continuously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built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brute-force sweep, re-planned on event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F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MQTT telemetry transport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built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HTTP/JSON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Phase 1 pretrained on 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built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fits a per-vessel baseline instead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*Cumulative* run-hours per load band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Partly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window-only. The rate survives honestly; lifetime hours do not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794760"/>
            <a:ext cx="10874959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Phase 2 RUL is absent, and that is compliant</a:t>
            </a:r>
            <a:r>
              <a:rPr sz="1600" b="0">
                <a:solidFill>
                  <a:srgbClr val="F8FAFC"/>
                </a:solidFill>
                <a:latin typeface="Segoe UI"/>
              </a:rPr>
              <a:t> — our own profile (p.10) says demo Phase 1 and show Phase 2 as roadmap.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honest engineering gap:</a:t>
            </a:r>
            <a:r>
              <a:rPr sz="1600" b="0">
                <a:solidFill>
                  <a:srgbClr val="F8FAFC"/>
                </a:solidFill>
                <a:latin typeface="Segoe UI"/>
              </a:rPr>
              <a:t> </a:t>
            </a:r>
            <a:r>
              <a:rPr sz="1400" b="0">
                <a:solidFill>
                  <a:srgbClr val="B6C2D4"/>
                </a:solidFill>
                <a:latin typeface="Consolas"/>
              </a:rPr>
              <a:t>apps/bridge</a:t>
            </a:r>
            <a:r>
              <a:rPr sz="1600" b="0">
                <a:solidFill>
                  <a:srgbClr val="F8FAFC"/>
                </a:solidFill>
                <a:latin typeface="Segoe UI"/>
              </a:rPr>
              <a:t> has no TypeScript test runner. 334 tests cover the Python; nothing in the display is unit-tested. Every UI defect this project found needed a human or a browser to see.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