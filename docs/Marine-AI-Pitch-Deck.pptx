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sentence. "We make boats already in the water burn less</a:t>
            </a:r>
          </a:p>
          <a:p>
            <a:r>
              <a:t>fuel, break down less, and prove it — without replacing the boat or the engine."</a:t>
            </a:r>
          </a:p>
          <a:p/>
          <a:p>
            <a:r>
              <a:t>SERVES (rubric): first impression; sets the retrofit framing that makes impact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costs the operator already feels — fuel wasted, downtime</a:t>
            </a:r>
          </a:p>
          <a:p>
            <a:r>
              <a:t>unplanned, and money left on the table for lack of a report they can't produce.</a:t>
            </a:r>
          </a:p>
          <a:p>
            <a:r>
              <a:t>We did not invent a problem; we instrumented one.</a:t>
            </a:r>
          </a:p>
          <a:p/>
          <a:p>
            <a:r>
              <a:t>SERVES (rubric): Impact &amp; Feasibility (25%). Ground the pitch in a real operator, the captain from [`PRODUCT.md`](../PRODUCT.md).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architectural claim that ties it together: **there is one</a:t>
            </a:r>
          </a:p>
          <a:p>
            <a:r>
              <a:t>fuel model in this system.** Speed, Route and Emissions are all scored by it, so</a:t>
            </a:r>
          </a:p>
          <a:p>
            <a:r>
              <a:t>the litres a route saves and the litres a throttle saves can never come from two</a:t>
            </a:r>
          </a:p>
          <a:p>
            <a:r>
              <a:t>different models. That is enforced by a test, not a promise.</a:t>
            </a:r>
          </a:p>
          <a:p/>
          <a:p>
            <a:r>
              <a:t>SERVES (rubric): Innovation &amp; Scalability; AI Strategy / Model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honesty slide, up front. We are a pre-sprint</a:t>
            </a:r>
          </a:p>
          <a:p>
            <a:r>
              <a:t>software prototype. The sensors are named and the data they'd produce is exactly</a:t>
            </a:r>
          </a:p>
          <a:p>
            <a:r>
              <a:t>what the models consume — so this is a working system waiting for a sensor kit,</a:t>
            </a:r>
          </a:p>
          <a:p>
            <a:r>
              <a:t>not a mock-up. Saying so plainly is worth more than a staged hardware photo.</a:t>
            </a:r>
          </a:p>
          <a:p/>
          <a:p>
            <a:r>
              <a:t>SERVES (rubric): Ethics/Data Integrity (this is the brief's declaration requirement); buys credibility for every later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 — show head-sea vs calm at the same throttle; the</a:t>
            </a:r>
          </a:p>
          <a:p>
            <a:r>
              <a:t>boat actually slows. In the old prototype the weather slider moved the readout</a:t>
            </a:r>
          </a:p>
          <a:p>
            <a:r>
              <a:t>and never the boat; that bug is now a failing test if it ever returns.</a:t>
            </a:r>
          </a:p>
          <a:p/>
          <a:p>
            <a:r>
              <a:t>SERVES (rubric): Technical Execution; the live-demo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single strongest data-integrity point and it maps</a:t>
            </a:r>
          </a:p>
          <a:p>
            <a:r>
              <a:t>to the 20% "did you pick the right tool" criterion. We split the problem so the</a:t>
            </a:r>
          </a:p>
          <a:p>
            <a:r>
              <a:t>part we can learn honestly is learned, and the part no dataset supports is</a:t>
            </a:r>
          </a:p>
          <a:p>
            <a:r>
              <a:t>computed from physics with every coefficient named and per-vessel calibratable.</a:t>
            </a:r>
          </a:p>
          <a:p/>
          <a:p>
            <a:r>
              <a:t>SERVES (rubric): AI Strategy / Data Integrity / Model Fit (20% semi-final). See [`docs/DEVIATIONS.md`](DEVIATIONS.md)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5.02% row is the size of the problem. The gap from 0.64%</a:t>
            </a:r>
          </a:p>
          <a:p>
            <a:r>
              <a:t>to 0.09% is why a tree earns its complexity over a straight line. Both baselines</a:t>
            </a:r>
          </a:p>
          <a:p>
            <a:r>
              <a:t>print on every training run, so if the tree ever stops earning it, we'd see it.</a:t>
            </a:r>
          </a:p>
          <a:p/>
          <a:p>
            <a:r>
              <a:t>SERVES (rubric): Technical Soundness (50% final, from the mentor report).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predictive-maintenance demos overclaim on day one. Ours</a:t>
            </a:r>
          </a:p>
          <a:p>
            <a:r>
              <a:t>physically cannot: the data model rejects a failure-date prediction before the</a:t>
            </a:r>
          </a:p>
          <a:p>
            <a:r>
              <a:t>failure history that would justify it exists.</a:t>
            </a:r>
          </a:p>
          <a:p/>
          <a:p>
            <a:r>
              <a:t>SERVES (rubric): Ethics/Bias (over-claim avoidance); Technical Soundness.</a:t>
            </a:r>
          </a:p>
          <a:p/>
          <a:p>
            <a:r>
              <a:t>BUILD NOTE — resolve before pitching, do not read aloud:</a:t>
            </a:r>
          </a:p>
          <a:p>
            <a:r>
              <a:t>**Build status note (delete before pitch):** the Phase-1 anomaly detector is</a:t>
            </a:r>
          </a:p>
          <a:p>
            <a:r>
              <a:t>**built, tested and live on the display** — a pure-numpy ensemble of a robust</a:t>
            </a:r>
          </a:p>
          <a:p>
            <a:r>
              <a:t>per-stream z-score and a PCA linear autoencoder, served by `POST /maintenance`</a:t>
            </a:r>
          </a:p>
          <a:p>
            <a:r>
              <a:t>and rendered in the bridge Health zone. The demo beat to rehearse: open the</a:t>
            </a:r>
          </a:p>
          <a:p>
            <a:r>
              <a:t>throttle and coolant *and* exhaust temperature both rise, and the panel stays</a:t>
            </a:r>
          </a:p>
          <a:p>
            <a:r>
              <a:t>**nominal** (measured anomaly score 0.09) — because that correlation is what a</a:t>
            </a:r>
          </a:p>
          <a:p>
            <a:r>
              <a:t>healthy engine does and the joint model learned it. Then inject a coolant creep</a:t>
            </a:r>
          </a:p>
          <a:p>
            <a:r>
              <a:t>alone and it flags at 0.99, naming the coolant stream. A threshold detector</a:t>
            </a:r>
          </a:p>
          <a:p>
            <a:r>
              <a:t>would have alarmed on the first and it is worth saying so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"AI emissions model" that multiplied litres by a constant</a:t>
            </a:r>
          </a:p>
          <a:p>
            <a:r>
              <a:t>and called it a prediction would be the least defensible thing we could build. So</a:t>
            </a:r>
          </a:p>
          <a:p>
            <a:r>
              <a:t>we don't. The accuracy of the emissions report is inherited, transparently, from</a:t>
            </a:r>
          </a:p>
          <a:p>
            <a:r>
              <a:t>the accuracy of the fuel model.</a:t>
            </a:r>
          </a:p>
          <a:p/>
          <a:p>
            <a:r>
              <a:t>The line to land: **the report refuses to flatter you.** A voyage with no</a:t>
            </a:r>
          </a:p>
          <a:p>
            <a:r>
              <a:t>baseline contributes its fuel and its CO2 to the totals but *not* to the avoided</a:t>
            </a:r>
          </a:p>
          <a:p>
            <a:r>
              <a:t>figure, and the report names how many voyages that was. A month that burned more</a:t>
            </a:r>
          </a:p>
          <a:p>
            <a:r>
              <a:t>than baseline reports as negative. Both of those make the headline number</a:t>
            </a:r>
          </a:p>
          <a:p>
            <a:r>
              <a:t>smaller, and both are why the number is worth anything.</a:t>
            </a:r>
          </a:p>
          <a:p/>
          <a:p>
            <a:r>
              <a:t>SERVES (rubric): Impact &amp; Feasibility (the only deliverable aimed at the LGU / MARINA / green-finance stakeholder — a third of the problem statement).</a:t>
            </a:r>
          </a:p>
          <a:p/>
          <a:p>
            <a:r>
              <a:t>BUILD NOTE — resolve before pitching, do not read aloud:</a:t>
            </a:r>
          </a:p>
          <a:p>
            <a:r>
              <a:t>**Build status note (delete before pitch):** built and demonstrable as of</a:t>
            </a:r>
          </a:p>
          <a:p>
            <a:r>
              <a:t>2026-07-26. `POST /voyages` records each crossing on arrival,</a:t>
            </a:r>
          </a:p>
          <a:p>
            <a:r>
              <a:t>`GET /emissions/report.csv` is the export, and there is an "Export month" link</a:t>
            </a:r>
          </a:p>
          <a:p>
            <a:r>
              <a:t>on the display. Live run: four crossings, the first three establish the route</a:t>
            </a:r>
          </a:p>
          <a:p>
            <a:r>
              <a:t>history and honestly report **no baseline**, the fourth is measured against the</a:t>
            </a:r>
          </a:p>
          <a:p>
            <a:r>
              <a:t>median of its own three priors — 2.841 L baseline vs 1.529 L actual,</a:t>
            </a:r>
          </a:p>
          <a:p>
            <a:r>
              <a:t>**+3.52 kg CO2 avoided**, method `own_prior_route`. Demo it in that order; the</a:t>
            </a:r>
          </a:p>
          <a:p>
            <a:r>
              <a:t>first three "no baseline" rows are the point, not a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"one fuel model" pays off. Route isn't a second,</a:t>
            </a:r>
          </a:p>
          <a:p>
            <a:r>
              <a:t>disconnected product with its own cost assumptions — it reuses Speed's model</a:t>
            </a:r>
          </a:p>
          <a:p>
            <a:r>
              <a:t>leg-by-leg, so a judge can't find two numbers that disagree. The forecast</a:t>
            </a:r>
          </a:p>
          <a:p>
            <a:r>
              <a:t>question is the other one worth being ready for: "did you train the Temporal</a:t>
            </a:r>
          </a:p>
          <a:p>
            <a:r>
              <a:t>Fusion Transformer?" The honest answer is better than a yes — a TFT forecasts</a:t>
            </a:r>
          </a:p>
          <a:p>
            <a:r>
              <a:t>from recent observed history, and this endpoint has none to give it (no live</a:t>
            </a:r>
          </a:p>
          <a:p>
            <a:r>
              <a:t>weather feed is wired into route planning, by design). What trains instead is</a:t>
            </a:r>
          </a:p>
          <a:p>
            <a:r>
              <a:t>a position-and-time regression, and even that wasn't shipped as one</a:t>
            </a:r>
          </a:p>
          <a:p>
            <a:r>
              <a:t>architecture: nine targets were raced against a climatological lookup table on</a:t>
            </a:r>
          </a:p>
          <a:p>
            <a:r>
              <a:t>held-out real weather, and the table won on five of them. Both halves shipped.</a:t>
            </a:r>
          </a:p>
          <a:p/>
          <a:p>
            <a:r>
              <a:t>SERVES (rubric): Innovation &amp; Scalability; AI Strategy.</a:t>
            </a:r>
          </a:p>
          <a:p/>
          <a:p>
            <a:r>
              <a:t>BUILD NOTE — resolve before pitching, do not read aloud:</a:t>
            </a:r>
          </a:p>
          <a:p>
            <a:r>
              <a:t>**Build status note (delete before pitch):** the route engine, its constraints,</a:t>
            </a:r>
          </a:p>
          <a:p>
            <a:r>
              <a:t>the `POST /route` API and the bridge Route zone that consumes it are built and</a:t>
            </a:r>
          </a:p>
          <a:p>
            <a:r>
              <a:t>tested (276 tests green). The learned forecaster is **built** as of</a:t>
            </a:r>
          </a:p>
          <a:p>
            <a:r>
              <a:t>2026-07-30 (`services/route/train.py`, `docs/DEVIATIONS.md` §13):</a:t>
            </a:r>
          </a:p>
          <a:p>
            <a:r>
              <a:t>gradient-boosted regression for wind/wave direction plus a climatological</a:t>
            </a:r>
          </a:p>
          <a:p>
            <a:r>
              <a:t>lookup table for wind/wave/current magnitude and current direction, trained</a:t>
            </a:r>
          </a:p>
          <a:p>
            <a:r>
              <a:t>and validated against Open-Meteo's real historical archive. `forecast_source`</a:t>
            </a:r>
          </a:p>
          <a:p>
            <a:r>
              <a:t>now reports `"gbm_climatology"`. **A caveat that got stronger, not weaker,</a:t>
            </a:r>
          </a:p>
          <a:p>
            <a:r>
              <a:t>after training on real data:** swept across 16 (month, hour) combinations on</a:t>
            </a:r>
          </a:p>
          <a:p>
            <a:r>
              <a:t>the Muelle-to-Jordan crossing, and separately on a longer 16 nm leg spanning</a:t>
            </a:r>
          </a:p>
          <a:p>
            <a:r>
              <a:t>the full operating box, `savings_l` came back **zero every time** — 2026-07-30.</a:t>
            </a:r>
          </a:p>
          <a:p>
            <a:r>
              <a:t>The trained climatology's spatial variation across a ~20 km box is genuinely</a:t>
            </a:r>
          </a:p>
          <a:p>
            <a:r>
              <a:t>subtler than the analytic field's hand-tuned wind band, which was engineered</a:t>
            </a:r>
          </a:p>
          <a:p>
            <a:r>
              <a:t>specifically to give the offset search something to find. This is the honest</a:t>
            </a:r>
          </a:p>
          <a:p>
            <a:r>
              <a:t>cost of training on real data instead of a demo-shaped one: the model is more</a:t>
            </a:r>
          </a:p>
          <a:p>
            <a:r>
              <a:t>believable and less demoable. Do not promise a nonzero savings figure on</a:t>
            </a:r>
          </a:p>
          <a:p>
            <a:r>
              <a:t>Route without checking it live first. If the pitch needs one, either find a</a:t>
            </a:r>
          </a:p>
          <a:p>
            <a:r>
              <a:t>real leg/time that produces one before the sprint, or present the zero</a:t>
            </a:r>
          </a:p>
          <a:p>
            <a:r>
              <a:t>honestly — "the system checked and confirmed there is nothing to save on this</a:t>
            </a:r>
          </a:p>
          <a:p>
            <a:r>
              <a:t>crossing today" is a legitimate answer for an advisory system to give, and</a:t>
            </a:r>
          </a:p>
          <a:p>
            <a:r>
              <a:t>arguably a better one than a system that always finds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design decision falls out of one scene — a captain who</a:t>
            </a:r>
          </a:p>
          <a:p>
            <a:r>
              <a:t>looks at the screen for under two seconds, twice a minute, one hand on the</a:t>
            </a:r>
          </a:p>
          <a:p>
            <a:r>
              <a:t>throttle. Show the four POV modes / helm view here.</a:t>
            </a:r>
          </a:p>
          <a:p/>
          <a:p>
            <a:r>
              <a:t>SERVES (rubric): Presentation (15%); Impact (usability by a non-engineer captain).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maritime liability the advisory boundary is a legal</a:t>
            </a:r>
          </a:p>
          <a:p>
            <a:r>
              <a:t>requirement, not a stylistic choice. So we did not describe it, we built it: the</a:t>
            </a:r>
          </a:p>
          <a:p>
            <a:r>
              <a:t>safety path is a separate module that consults nothing learned, and the test</a:t>
            </a:r>
          </a:p>
          <a:p>
            <a:r>
              <a:t>suite fails if anyone ever imports a model into it. When you are asked "what</a:t>
            </a:r>
          </a:p>
          <a:p>
            <a:r>
              <a:t>happens when your model is wrong" — this is the answer, and it is the one part</a:t>
            </a:r>
          </a:p>
          <a:p>
            <a:r>
              <a:t>of the system that cannot be wrong in a new way.</a:t>
            </a:r>
          </a:p>
          <a:p/>
          <a:p>
            <a:r>
              <a:t>Worth saying out loud: opening the throttle raises coolant and exhaust together</a:t>
            </a:r>
          </a:p>
          <a:p>
            <a:r>
              <a:t>and the *health* model correctly stays nominal, while a coolant cutoff fires the</a:t>
            </a:r>
          </a:p>
          <a:p>
            <a:r>
              <a:t>instant the threshold is crossed regardless of what any model thinks. Two</a:t>
            </a:r>
          </a:p>
          <a:p>
            <a:r>
              <a:t>independent judgements, and the threshold always wins.</a:t>
            </a:r>
          </a:p>
          <a:p/>
          <a:p>
            <a:r>
              <a:t>**The Claude line is the one to slow down on.** Every team at this event will</a:t>
            </a:r>
          </a:p>
          <a:p>
            <a:r>
              <a:t>have an LLM in the stack. The question a technical judge asks is what stops it</a:t>
            </a:r>
          </a:p>
          <a:p>
            <a:r>
              <a:t>from being wrong in public — and "we prompted it carefully" is not an answer.</a:t>
            </a:r>
          </a:p>
          <a:p>
            <a:r>
              <a:t>Ours is: the model is handed a finished sentence and asked to say it better, and</a:t>
            </a:r>
          </a:p>
          <a:p>
            <a:r>
              <a:t>the result is diffed against that sentence before it is displayed. Change a</a:t>
            </a:r>
          </a:p>
          <a:p>
            <a:r>
              <a:t>number, and it is discarded. Open a clause with a command verb, and it is</a:t>
            </a:r>
          </a:p>
          <a:p>
            <a:r>
              <a:t>discarded. The captain sees the deterministic sentence instead, and the panel</a:t>
            </a:r>
          </a:p>
          <a:p>
            <a:r>
              <a:t>says so. That is the difference between an LLM in the product and an LLM in the</a:t>
            </a:r>
          </a:p>
          <a:p>
            <a:r>
              <a:t>decision path, and we are only in the first one.</a:t>
            </a:r>
          </a:p>
          <a:p/>
          <a:p>
            <a:r>
              <a:t>SERVES (rubric): Ethics/Bias (15% semi-final).</a:t>
            </a:r>
          </a:p>
          <a:p/>
          <a:p>
            <a:r>
              <a:t>BUILD NOTE — resolve before pitching, do not read aloud:</a:t>
            </a:r>
          </a:p>
          <a:p>
            <a:r>
              <a:t>**Build status note (delete before pitch):** the safety engine is **built,</a:t>
            </a:r>
          </a:p>
          <a:p>
            <a:r>
              <a:t>wired and tested** (13 unit + 4 API tests) as of 2026-07-26. The Claude</a:t>
            </a:r>
          </a:p>
          <a:p>
            <a:r>
              <a:t>advisory layer is **built, wired and tested** as of 2026-07-30</a:t>
            </a:r>
          </a:p>
          <a:p>
            <a:r>
              <a:t>(`services/advisory/`, 28 tests) across the throttle, route and health</a:t>
            </a:r>
          </a:p>
          <a:p>
            <a:r>
              <a:t>sentences. It requires `ANTHROPIC_API_KEY` on the deployed API — **without it</a:t>
            </a:r>
          </a:p>
          <a:p>
            <a:r>
              <a:t>the demo is honest but shows `advisory_source: "template"` throughout**, so</a:t>
            </a:r>
          </a:p>
          <a:p>
            <a:r>
              <a:t>set the key in the Vercel project before recording the screencast, and check</a:t>
            </a:r>
          </a:p>
          <a:p>
            <a:r>
              <a:t>`GET /health` reports `"advisory_layer": "claude"`.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grades "use only licensed or public datasets" and</a:t>
            </a:r>
          </a:p>
          <a:p>
            <a:r>
              <a:t>requires external models cited in the deck — this slide is that requirement,</a:t>
            </a:r>
          </a:p>
          <a:p>
            <a:r>
              <a:t>discharged. Note the three honest caveats we lead with: the anchor dataset is a</a:t>
            </a:r>
          </a:p>
          <a:p>
            <a:r>
              <a:t>gas turbine used only for the *dimensionless* wear penalty; GEBCO is intended but</a:t>
            </a:r>
          </a:p>
          <a:p>
            <a:r>
              <a:t>not yet wired; and C-MAPSS is cited because we evaluated it, not because it</a:t>
            </a:r>
          </a:p>
          <a:p>
            <a:r>
              <a:t>trains anything — the Phase 1 detector learns each vessel's own normal instead,</a:t>
            </a:r>
          </a:p>
          <a:p>
            <a:r>
              <a:t>which is the better fit anyway, since a turbofan's degradation modes are not a</a:t>
            </a:r>
          </a:p>
          <a:p>
            <a:r>
              <a:t>marine diesel's.</a:t>
            </a:r>
          </a:p>
          <a:p/>
          <a:p>
            <a:r>
              <a:t>SERVES (rubric): Data Integrity (20% semi-final); the brief's citation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judge will find these by reading the source. Finding them</a:t>
            </a:r>
          </a:p>
          <a:p>
            <a:r>
              <a:t>here, with the reasoning attached, is a completely different experience from</a:t>
            </a:r>
          </a:p>
          <a:p>
            <a:r>
              <a:t>discovering the paper overstated something. This slide is a trust asset.</a:t>
            </a:r>
          </a:p>
          <a:p/>
          <a:p>
            <a:r>
              <a:t>SERVES (rubric): Technical Soundness; Ethics/Data Integrity; Q&amp;A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is the retrofit story plus the cost story. We're</a:t>
            </a:r>
          </a:p>
          <a:p>
            <a:r>
              <a:t>not asking an operator to buy a boat; we're asking them to bolt on a sensor kit</a:t>
            </a:r>
          </a:p>
          <a:p>
            <a:r>
              <a:t>that pays for itself in fuel.</a:t>
            </a:r>
          </a:p>
          <a:p/>
          <a:p>
            <a:r>
              <a:t>SERVES (rubric): Impact &amp; Feasibility (25%); Scalability (10%).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the roadmap is a *named seam in the code today*,</a:t>
            </a:r>
          </a:p>
          <a:p>
            <a:r>
              <a:t>not a wish. The forecaster loads through one function; AIS has a reserved contract</a:t>
            </a:r>
          </a:p>
          <a:p>
            <a:r>
              <a:t>field; depth has a provider protocol. Scaling is wiring, not rewriting.</a:t>
            </a:r>
          </a:p>
          <a:p/>
          <a:p>
            <a:r>
              <a:t>SERVES (rubric): Innovation &amp; Scalability (10%).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retrofit promise and the honesty posture. Invite</a:t>
            </a:r>
          </a:p>
          <a:p>
            <a:r>
              <a:t>the Q&amp;A — the deviations slide means we welcome the hard questions.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9803" y="1977390"/>
            <a:ext cx="171450" cy="9601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07083" y="1977390"/>
            <a:ext cx="171450" cy="9601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81278" y="1783080"/>
            <a:ext cx="525780" cy="1268730"/>
          </a:xfrm>
          <a:prstGeom prst="triangl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87168" y="1828800"/>
            <a:ext cx="9155887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6000" b="1">
                <a:solidFill>
                  <a:srgbClr val="F8FAFC"/>
                </a:solidFill>
                <a:latin typeface="Segoe UI"/>
              </a:rPr>
              <a:t>Marine-AI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6C2D4"/>
                </a:solidFill>
                <a:latin typeface="Segoe UI"/>
              </a:rPr>
              <a:t>A retrofittable AI advisory system for Philippine diesel passenger boats.*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6C2D4"/>
                </a:solidFill>
                <a:latin typeface="Segoe UI"/>
              </a:rPr>
              <a:t>Team SOLMATE · National AI Hackathon 2026 · Blue Economy / Clean Energy track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6C2D4"/>
                </a:solidFill>
                <a:latin typeface="Segoe UI"/>
              </a:rPr>
              <a:t>Public demo URL · public repo URL (both must resolve — required, or DQ)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The problem, in the operator's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~5,000+ wooden/fiberglass diesel passenger boats in PH inter-island service.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Fuel is the largest controllable operating cost; captains throttle on instinct.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Breakdowns are discovered at sea, not scheduled at the dock.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No emissions evidence → locked out of green financing and LGU/MARINA incentives.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One system, three problems, one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Three sensor systems → three parallel AI modules → </a:t>
            </a:r>
            <a:r>
              <a:rPr sz="1800" b="1">
                <a:solidFill>
                  <a:srgbClr val="F8FAFC"/>
                </a:solidFill>
                <a:latin typeface="Segoe UI"/>
              </a:rPr>
              <a:t>one bridge display</a:t>
            </a:r>
            <a:r>
              <a:rPr sz="1800" b="0">
                <a:solidFill>
                  <a:srgbClr val="F8FAFC"/>
                </a:solidFill>
                <a:latin typeface="Segoe UI"/>
              </a:rPr>
              <a:t>. 1. </a:t>
            </a:r>
            <a:r>
              <a:rPr sz="1800" b="1">
                <a:solidFill>
                  <a:srgbClr val="F8FAFC"/>
                </a:solidFill>
                <a:latin typeface="Segoe UI"/>
              </a:rPr>
              <a:t>Speed Optimization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cheapest throttle that still meets the schedule. 2. </a:t>
            </a:r>
            <a:r>
              <a:rPr sz="1800" b="1">
                <a:solidFill>
                  <a:srgbClr val="F8FAFC"/>
                </a:solidFill>
                <a:latin typeface="Segoe UI"/>
              </a:rPr>
              <a:t>Route Optimization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cheapest lawful track for the same arrival. 3. </a:t>
            </a:r>
            <a:r>
              <a:rPr sz="1800" b="1">
                <a:solidFill>
                  <a:srgbClr val="F8FAFC"/>
                </a:solidFill>
                <a:latin typeface="Segoe UI"/>
              </a:rPr>
              <a:t>Predictive Maintenance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engine health, honest about its own maturity.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Cross-cutting: </a:t>
            </a:r>
            <a:r>
              <a:rPr sz="1800" b="1">
                <a:solidFill>
                  <a:srgbClr val="F8FAFC"/>
                </a:solidFill>
                <a:latin typeface="Segoe UI"/>
              </a:rPr>
              <a:t>Auditable Emissions Layer</a:t>
            </a:r>
            <a:r>
              <a:rPr sz="1800" b="0">
                <a:solidFill>
                  <a:srgbClr val="F8FAFC"/>
                </a:solidFill>
                <a:latin typeface="Segoe UI"/>
              </a:rPr>
              <a:t> (Problem 3) rides on the fuel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2/17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What is real, and what is declared (HARDWARE DECLARATION)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1">
                <a:solidFill>
                  <a:srgbClr val="F8FAFC"/>
                </a:solidFill>
                <a:latin typeface="Segoe UI"/>
              </a:rPr>
              <a:t>No retrofit hardware in this build. Declared, not hidden.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Every telemetry frame carries </a:t>
            </a:r>
            <a:r>
              <a:rPr sz="1600" b="0">
                <a:solidFill>
                  <a:srgbClr val="B6C2D4"/>
                </a:solidFill>
                <a:latin typeface="Consolas"/>
              </a:rPr>
              <a:t>source="simulator"</a:t>
            </a:r>
            <a:r>
              <a:rPr sz="1800" b="0">
                <a:solidFill>
                  <a:srgbClr val="F8FAFC"/>
                </a:solidFill>
                <a:latin typeface="Segoe UI"/>
              </a:rPr>
              <a:t>; the contract has no default that could claim otherwise (</a:t>
            </a:r>
            <a:r>
              <a:rPr sz="1600" b="0">
                <a:solidFill>
                  <a:srgbClr val="B6C2D4"/>
                </a:solidFill>
                <a:latin typeface="Consolas"/>
              </a:rPr>
              <a:t>packages/contracts/telemetry.py</a:t>
            </a:r>
            <a:r>
              <a:rPr sz="1800" b="0">
                <a:solidFill>
                  <a:srgbClr val="F8FAFC"/>
                </a:solidFill>
                <a:latin typeface="Segoe UI"/>
              </a:rPr>
              <a:t>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retrofit sensor kit is *specified* (RPM pickup, EGT probe, IMU, GPS, fuel- flow meter, weather feed) — the model inputs are exactly what that kit produces.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one real sensor path: the console can optionally read </a:t>
            </a:r>
            <a:r>
              <a:rPr sz="1800" b="1">
                <a:solidFill>
                  <a:srgbClr val="F8FAFC"/>
                </a:solidFill>
                <a:latin typeface="Segoe UI"/>
              </a:rPr>
              <a:t>the browser's own GNSS and orientation</a:t>
            </a:r>
            <a:r>
              <a:rPr sz="1800" b="0">
                <a:solidFill>
                  <a:srgbClr val="F8FAFC"/>
                </a:solidFill>
                <a:latin typeface="Segoe UI"/>
              </a:rPr>
              <a:t>, to place the vessel on the chart at your actual position. It feeds the map only. </a:t>
            </a:r>
            <a:r>
              <a:rPr sz="1800" b="1">
                <a:solidFill>
                  <a:srgbClr val="F8FAFC"/>
                </a:solidFill>
                <a:latin typeface="Segoe UI"/>
              </a:rPr>
              <a:t>No engine, fuel or temperature stream is ever anything but simulated.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demo drives the real models with simulated telemetry, at real physics.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3/17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Problem 1: Speed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Product is not a recommended RPM. Product is the </a:t>
            </a:r>
            <a:r>
              <a:rPr sz="1800" b="1">
                <a:solidFill>
                  <a:srgbClr val="F8FAFC"/>
                </a:solidFill>
                <a:latin typeface="Segoe UI"/>
              </a:rPr>
              <a:t>delta</a:t>
            </a:r>
            <a:r>
              <a:rPr sz="1800" b="0">
                <a:solidFill>
                  <a:srgbClr val="F8FAFC"/>
                </a:solidFill>
                <a:latin typeface="Segoe UI"/>
              </a:rPr>
              <a:t>: litres/hour saved for the same arrival time.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Physics decides how much power a speed costs in *these* conditions; the fuel model decides how many litres that power burns.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Held-at-ETA optimiser: it never tells you to just go slower — it finds the cheapest throttle that still arrives on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4/17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The fuel model is a hybrid (AI STRATEGY / MODEL FIT)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B6C2D4"/>
                </a:solidFill>
                <a:latin typeface="Consolas"/>
              </a:rPr>
              <a:t>conditions + load → shaft power</a:t>
            </a:r>
            <a:r>
              <a:rPr sz="1800" b="0">
                <a:solidFill>
                  <a:srgbClr val="F8FAFC"/>
                </a:solidFill>
                <a:latin typeface="Segoe UI"/>
              </a:rPr>
              <a:t> = </a:t>
            </a:r>
            <a:r>
              <a:rPr sz="1800" b="1">
                <a:solidFill>
                  <a:srgbClr val="F8FAFC"/>
                </a:solidFill>
                <a:latin typeface="Segoe UI"/>
              </a:rPr>
              <a:t>physics</a:t>
            </a:r>
            <a:r>
              <a:rPr sz="1800" b="0">
                <a:solidFill>
                  <a:srgbClr val="F8FAFC"/>
                </a:solidFill>
                <a:latin typeface="Segoe UI"/>
              </a:rPr>
              <a:t> (naval-architecture, calibratable).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B6C2D4"/>
                </a:solidFill>
                <a:latin typeface="Consolas"/>
              </a:rPr>
              <a:t>shaft power + wear → litres/hour</a:t>
            </a:r>
            <a:r>
              <a:rPr sz="1800" b="0">
                <a:solidFill>
                  <a:srgbClr val="F8FAFC"/>
                </a:solidFill>
                <a:latin typeface="Segoe UI"/>
              </a:rPr>
              <a:t> = published diesel BSFC curve × </a:t>
            </a:r>
            <a:r>
              <a:rPr sz="1800" b="1">
                <a:solidFill>
                  <a:srgbClr val="F8FAFC"/>
                </a:solidFill>
                <a:latin typeface="Segoe UI"/>
              </a:rPr>
              <a:t>XGBoost</a:t>
            </a:r>
            <a:r>
              <a:rPr sz="1800" b="0">
                <a:solidFill>
                  <a:srgbClr val="F8FAFC"/>
                </a:solidFill>
                <a:latin typeface="Segoe UI"/>
              </a:rPr>
              <a:t> wear penalty.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Why not end-to-end ML? </a:t>
            </a:r>
            <a:r>
              <a:rPr sz="1800" b="1">
                <a:solidFill>
                  <a:srgbClr val="F8FAFC"/>
                </a:solidFill>
                <a:latin typeface="Segoe UI"/>
              </a:rPr>
              <a:t>No public dataset varies wind, current, wave or load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they are constants in it. A model "learning" them would ignore the inputs it acts on while reporting confidence on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5/17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Model validation (TECHNICAL SOUNDNESS)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600200"/>
          <a:ext cx="1087495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479"/>
                <a:gridCol w="5437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109728" marT="45720" marB="4572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Mean error, % of fuel burn</a:t>
                      </a:r>
                    </a:p>
                  </a:txBody>
                  <a:tcPr marL="109728" marR="109728" marT="45720" marB="45720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Assume every engine is healthy (a system with no fuel map)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5.02%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Linear regression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0.64%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6C2D4"/>
                          </a:solidFill>
                          <a:latin typeface="Segoe UI"/>
                        </a:rPr>
                        <a:t>XGBoost wear model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6C2D4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410712"/>
            <a:ext cx="10874959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Validated on </a:t>
            </a:r>
            <a:r>
              <a:rPr sz="1800" b="1">
                <a:solidFill>
                  <a:srgbClr val="F8FAFC"/>
                </a:solidFill>
                <a:latin typeface="Segoe UI"/>
              </a:rPr>
              <a:t>whole held-out wear states</a:t>
            </a:r>
            <a:r>
              <a:rPr sz="1800" b="0">
                <a:solidFill>
                  <a:srgbClr val="F8FAFC"/>
                </a:solidFill>
                <a:latin typeface="Segoe UI"/>
              </a:rPr>
              <a:t> (25% of decay pairs never seen in training) — not a random split, which would leak on a factorial grid.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Honest weakness stated on-slide: </a:t>
            </a:r>
            <a:r>
              <a:rPr sz="1800" b="1">
                <a:solidFill>
                  <a:srgbClr val="F8FAFC"/>
                </a:solidFill>
                <a:latin typeface="Segoe UI"/>
              </a:rPr>
              <a:t>load sampled at only 7 points</a:t>
            </a:r>
            <a:r>
              <a:rPr sz="1800" b="0">
                <a:solidFill>
                  <a:srgbClr val="F8FAFC"/>
                </a:solidFill>
                <a:latin typeface="Segoe UI"/>
              </a:rPr>
              <a:t>; the wear axis is dense, the load axis is interpolated.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6/17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Problem 2: Predictive Maintenance, honest about maturity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Two phases, enforced in code, not just described: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1">
                <a:solidFill>
                  <a:srgbClr val="B6C2D4"/>
                </a:solidFill>
                <a:latin typeface="Segoe UI"/>
              </a:rPr>
              <a:t>Phase 1 (~first 24 months):</a:t>
            </a:r>
            <a:r>
              <a:rPr sz="1500" b="0">
                <a:solidFill>
                  <a:srgbClr val="B6C2D4"/>
                </a:solidFill>
                <a:latin typeface="Segoe UI"/>
              </a:rPr>
              <a:t> "coolant temperature is drifting" — anomaly, never a component-level countdown.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1">
                <a:solidFill>
                  <a:srgbClr val="B6C2D4"/>
                </a:solidFill>
                <a:latin typeface="Segoe UI"/>
              </a:rPr>
              <a:t>Phase 2 (after labelled failure history exists):</a:t>
            </a:r>
            <a:r>
              <a:rPr sz="1500" b="0">
                <a:solidFill>
                  <a:srgbClr val="B6C2D4"/>
                </a:solidFill>
                <a:latin typeface="Segoe UI"/>
              </a:rPr>
              <a:t> component-level RUL.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contract </a:t>
            </a:r>
            <a:r>
              <a:rPr sz="1800" b="1">
                <a:solidFill>
                  <a:srgbClr val="F8FAFC"/>
                </a:solidFill>
                <a:latin typeface="Segoe UI"/>
              </a:rPr>
              <a:t>refuses</a:t>
            </a:r>
            <a:r>
              <a:rPr sz="1800" b="0">
                <a:solidFill>
                  <a:srgbClr val="F8FAFC"/>
                </a:solidFill>
                <a:latin typeface="Segoe UI"/>
              </a:rPr>
              <a:t> to emit a Phase-2 prediction during Phase 1 (</a:t>
            </a:r>
            <a:r>
              <a:rPr sz="1600" b="0">
                <a:solidFill>
                  <a:srgbClr val="B6C2D4"/>
                </a:solidFill>
                <a:latin typeface="Consolas"/>
              </a:rPr>
              <a:t>packages/contracts/maintenance.py</a:t>
            </a:r>
            <a:r>
              <a:rPr sz="1800" b="0">
                <a:solidFill>
                  <a:srgbClr val="F8FAFC"/>
                </a:solidFill>
                <a:latin typeface="Segoe UI"/>
              </a:rPr>
              <a:t>). The honesty commitment is a validator.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Problem 1 → Problem 2 link is priced: a worn engine's fuel penalty is a line item in litres/hour and pesos/hour.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7/17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Problem 3: The Auditable Emissions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Monthly </a:t>
            </a:r>
            <a:r>
              <a:rPr sz="1800" b="1">
                <a:solidFill>
                  <a:srgbClr val="F8FAFC"/>
                </a:solidFill>
                <a:latin typeface="Segoe UI"/>
              </a:rPr>
              <a:t>CO₂-avoided</a:t>
            </a:r>
            <a:r>
              <a:rPr sz="1800" b="0">
                <a:solidFill>
                  <a:srgbClr val="F8FAFC"/>
                </a:solidFill>
                <a:latin typeface="Segoe UI"/>
              </a:rPr>
              <a:t> report — exportable evidence for LGU / MARINA compliance and ESG-linked green financing. </a:t>
            </a:r>
            <a:r>
              <a:rPr sz="1800" b="1">
                <a:solidFill>
                  <a:srgbClr val="F8FAFC"/>
                </a:solidFill>
                <a:latin typeface="Segoe UI"/>
              </a:rPr>
              <a:t>Zero extra sensors</a:t>
            </a:r>
            <a:r>
              <a:rPr sz="1800" b="0">
                <a:solidFill>
                  <a:srgbClr val="F8FAFC"/>
                </a:solidFill>
                <a:latin typeface="Segoe UI"/>
              </a:rPr>
              <a:t> beyond Problems 1 &amp; 2.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CO₂ is not predicted — it is chemistry: </a:t>
            </a:r>
            <a:r>
              <a:rPr sz="1800" b="1">
                <a:solidFill>
                  <a:srgbClr val="F8FAFC"/>
                </a:solidFill>
                <a:latin typeface="Segoe UI"/>
              </a:rPr>
              <a:t>2.68 kg CO₂ per litre</a:t>
            </a:r>
            <a:r>
              <a:rPr sz="1800" b="0">
                <a:solidFill>
                  <a:srgbClr val="F8FAFC"/>
                </a:solidFill>
                <a:latin typeface="Segoe UI"/>
              </a:rPr>
              <a:t> of marine diesel, from carbon mass balance, not a tuned constant.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The claim that matters is the </a:t>
            </a:r>
            <a:r>
              <a:rPr sz="1800" b="1">
                <a:solidFill>
                  <a:srgbClr val="F8FAFC"/>
                </a:solidFill>
                <a:latin typeface="Segoe UI"/>
              </a:rPr>
              <a:t>baseline</a:t>
            </a:r>
            <a:r>
              <a:rPr sz="1800" b="0">
                <a:solidFill>
                  <a:srgbClr val="F8FAFC"/>
                </a:solidFill>
                <a:latin typeface="Segoe UI"/>
              </a:rPr>
              <a:t>: the vessel vs its *own* recorded burn on the *same* route before Marine-AI. Not a fleet average. A month that burned more reports as </a:t>
            </a:r>
            <a:r>
              <a:rPr sz="1800" b="1">
                <a:solidFill>
                  <a:srgbClr val="F8FAFC"/>
                </a:solidFill>
                <a:latin typeface="Segoe UI"/>
              </a:rPr>
              <a:t>negative</a:t>
            </a:r>
            <a:r>
              <a:rPr sz="1800" b="0">
                <a:solidFill>
                  <a:srgbClr val="F8FAFC"/>
                </a:solidFill>
                <a:latin typeface="Segoe UI"/>
              </a:rPr>
              <a:t>, not floored at zero.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8/17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Route Optimization: shared cost, real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Candidate tracks (direct great-circle + lateral offsets) → each leg costed through the </a:t>
            </a:r>
            <a:r>
              <a:rPr sz="1600" b="1">
                <a:solidFill>
                  <a:srgbClr val="F8FAFC"/>
                </a:solidFill>
                <a:latin typeface="Segoe UI"/>
              </a:rPr>
              <a:t>same</a:t>
            </a:r>
            <a:r>
              <a:rPr sz="1600" b="0">
                <a:solidFill>
                  <a:srgbClr val="F8FAFC"/>
                </a:solidFill>
                <a:latin typeface="Segoe UI"/>
              </a:rPr>
              <a:t> throttle optimiser as Speed. A one-leg route agrees with the throttle advisor </a:t>
            </a:r>
            <a:r>
              <a:rPr sz="1600" b="1">
                <a:solidFill>
                  <a:srgbClr val="F8FAFC"/>
                </a:solidFill>
                <a:latin typeface="Segoe UI"/>
              </a:rPr>
              <a:t>to 1e-6</a:t>
            </a:r>
            <a:r>
              <a:rPr sz="1600" b="0">
                <a:solidFill>
                  <a:srgbClr val="F8FAFC"/>
                </a:solidFill>
                <a:latin typeface="Segoe UI"/>
              </a:rPr>
              <a:t> (enforced by test).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Hard constraints: </a:t>
            </a:r>
            <a:r>
              <a:rPr sz="1600" b="1">
                <a:solidFill>
                  <a:srgbClr val="F8FAFC"/>
                </a:solidFill>
                <a:latin typeface="Segoe UI"/>
              </a:rPr>
              <a:t>charted depth</a:t>
            </a:r>
            <a:r>
              <a:rPr sz="1600" b="0">
                <a:solidFill>
                  <a:srgbClr val="F8FAFC"/>
                </a:solidFill>
                <a:latin typeface="Segoe UI"/>
              </a:rPr>
              <a:t> (a shorter track over a shoal is rejected, not costed) and </a:t>
            </a:r>
            <a:r>
              <a:rPr sz="1600" b="1">
                <a:solidFill>
                  <a:srgbClr val="F8FAFC"/>
                </a:solidFill>
                <a:latin typeface="Segoe UI"/>
              </a:rPr>
              <a:t>forecast wave height</a:t>
            </a:r>
            <a:r>
              <a:rPr sz="1600" b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Honest baseline delta: savings = direct-route burn − planned-route burn, shown with its real sign.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The forecast behind every leg is </a:t>
            </a:r>
            <a:r>
              <a:rPr sz="1600" b="1">
                <a:solidFill>
                  <a:srgbClr val="F8FAFC"/>
                </a:solidFill>
                <a:latin typeface="Segoe UI"/>
              </a:rPr>
              <a:t>trained on 2.6 years of real Open-Meteo reanalysis data</a:t>
            </a:r>
            <a:r>
              <a:rPr sz="1600" b="0">
                <a:solidFill>
                  <a:srgbClr val="F8FAFC"/>
                </a:solidFill>
                <a:latin typeface="Segoe UI"/>
              </a:rPr>
              <a:t>, not a hand-tuned field: gradient-boosted regression for wind/wave direction, a climatological lookup table for the rest — whichever won, per target, on six months of held-out weather. </a:t>
            </a:r>
            <a:r>
              <a:rPr sz="1400" b="0">
                <a:solidFill>
                  <a:srgbClr val="B6C2D4"/>
                </a:solidFill>
                <a:latin typeface="Consolas"/>
              </a:rPr>
              <a:t>forecast_source</a:t>
            </a:r>
            <a:r>
              <a:rPr sz="1600" b="0">
                <a:solidFill>
                  <a:srgbClr val="F8FAFC"/>
                </a:solidFill>
                <a:latin typeface="Segoe UI"/>
              </a:rPr>
              <a:t> says </a:t>
            </a:r>
            <a:r>
              <a:rPr sz="1400" b="0">
                <a:solidFill>
                  <a:srgbClr val="B6C2D4"/>
                </a:solidFill>
                <a:latin typeface="Consolas"/>
              </a:rPr>
              <a:t>"gbm_climatology"</a:t>
            </a:r>
            <a:r>
              <a:rPr sz="1600" b="0">
                <a:solidFill>
                  <a:srgbClr val="F8FAFC"/>
                </a:solidFill>
                <a:latin typeface="Segoe UI"/>
              </a:rPr>
              <a:t> on every response that used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9/17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The interface: two seconds on a wet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Dark, high-contrast, oversized type — read at arm's length, in spray, at 05:40.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Three zones by glance priority: </a:t>
            </a:r>
            <a:r>
              <a:rPr sz="1800" b="1">
                <a:solidFill>
                  <a:srgbClr val="F8FAFC"/>
                </a:solidFill>
                <a:latin typeface="Segoe UI"/>
              </a:rPr>
              <a:t>Throttle</a:t>
            </a:r>
            <a:r>
              <a:rPr sz="1800" b="0">
                <a:solidFill>
                  <a:srgbClr val="F8FAFC"/>
                </a:solidFill>
                <a:latin typeface="Segoe UI"/>
              </a:rPr>
              <a:t> (largest), </a:t>
            </a:r>
            <a:r>
              <a:rPr sz="1800" b="1">
                <a:solidFill>
                  <a:srgbClr val="F8FAFC"/>
                </a:solidFill>
                <a:latin typeface="Segoe UI"/>
              </a:rPr>
              <a:t>Route</a:t>
            </a:r>
            <a:r>
              <a:rPr sz="1800" b="0">
                <a:solidFill>
                  <a:srgbClr val="F8FAFC"/>
                </a:solidFill>
                <a:latin typeface="Segoe UI"/>
              </a:rPr>
              <a:t>, </a:t>
            </a:r>
            <a:r>
              <a:rPr sz="1800" b="1">
                <a:solidFill>
                  <a:srgbClr val="F8FAFC"/>
                </a:solidFill>
                <a:latin typeface="Segoe UI"/>
              </a:rPr>
              <a:t>Health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all three live, each driven by its own endpoint (</a:t>
            </a:r>
            <a:r>
              <a:rPr sz="1600" b="0">
                <a:solidFill>
                  <a:srgbClr val="B6C2D4"/>
                </a:solidFill>
                <a:latin typeface="Consolas"/>
              </a:rPr>
              <a:t>/advise</a:t>
            </a:r>
            <a:r>
              <a:rPr sz="1800" b="0">
                <a:solidFill>
                  <a:srgbClr val="F8FAFC"/>
                </a:solidFill>
                <a:latin typeface="Segoe UI"/>
              </a:rPr>
              <a:t>, </a:t>
            </a:r>
            <a:r>
              <a:rPr sz="1600" b="0">
                <a:solidFill>
                  <a:srgbClr val="B6C2D4"/>
                </a:solidFill>
                <a:latin typeface="Consolas"/>
              </a:rPr>
              <a:t>/route</a:t>
            </a:r>
            <a:r>
              <a:rPr sz="1800" b="0">
                <a:solidFill>
                  <a:srgbClr val="F8FAFC"/>
                </a:solidFill>
                <a:latin typeface="Segoe UI"/>
              </a:rPr>
              <a:t>, </a:t>
            </a:r>
            <a:r>
              <a:rPr sz="1600" b="0">
                <a:solidFill>
                  <a:srgbClr val="B6C2D4"/>
                </a:solidFill>
                <a:latin typeface="Consolas"/>
              </a:rPr>
              <a:t>/maintenance</a:t>
            </a:r>
            <a:r>
              <a:rPr sz="1800" b="0">
                <a:solidFill>
                  <a:srgbClr val="F8FAFC"/>
                </a:solidFill>
                <a:latin typeface="Segoe UI"/>
              </a:rPr>
              <a:t>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Each zone </a:t>
            </a:r>
            <a:r>
              <a:rPr sz="1800" b="1">
                <a:solidFill>
                  <a:srgbClr val="F8FAFC"/>
                </a:solidFill>
                <a:latin typeface="Segoe UI"/>
              </a:rPr>
              <a:t>ages independently and visibly</a:t>
            </a:r>
            <a:r>
              <a:rPr sz="1800" b="0">
                <a:solidFill>
                  <a:srgbClr val="F8FAFC"/>
                </a:solidFill>
                <a:latin typeface="Segoe UI"/>
              </a:rPr>
              <a:t>: a route planned at the dock reads in minutes, the throttle advisory in seconds. One shared "last updated" would have made a stale throttle number look as trustworthy as a fresh one.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Persistent trust bar: data freshness, connectivity, and </a:t>
            </a:r>
            <a:r>
              <a:rPr sz="1800" b="1">
                <a:solidFill>
                  <a:srgbClr val="F8FAFC"/>
                </a:solidFill>
                <a:latin typeface="Segoe UI"/>
              </a:rPr>
              <a:t>`ADVISORY ONLY — CAPTAIN COMMANDS`</a:t>
            </a:r>
            <a:r>
              <a:rPr sz="1800" b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1">
                <a:solidFill>
                  <a:srgbClr val="F8FAFC"/>
                </a:solidFill>
                <a:latin typeface="Segoe UI"/>
              </a:rPr>
              <a:t>Filipino is first-class</a:t>
            </a:r>
            <a:r>
              <a:rPr sz="1800" b="0">
                <a:solidFill>
                  <a:srgbClr val="F8FAFC"/>
                </a:solidFill>
                <a:latin typeface="Segoe UI"/>
              </a:rPr>
              <a:t>, not a translation afterthought.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10/17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The AI-authority boundary (ETHICS)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The system never overrides the captain and never actuates the vessel.</a:t>
            </a:r>
            <a:r>
              <a:rPr sz="1600" b="0">
                <a:solidFill>
                  <a:srgbClr val="F8FAFC"/>
                </a:solidFill>
                <a:latin typeface="Segoe UI"/>
              </a:rPr>
              <a:t> Every module advises; the captain decides.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Safety cut-offs are </a:t>
            </a:r>
            <a:r>
              <a:rPr sz="1600" b="1">
                <a:solidFill>
                  <a:srgbClr val="F8FAFC"/>
                </a:solidFill>
                <a:latin typeface="Segoe UI"/>
              </a:rPr>
              <a:t>rule-based and independent of every model</a:t>
            </a:r>
            <a:r>
              <a:rPr sz="1600" b="0">
                <a:solidFill>
                  <a:srgbClr val="F8FAFC"/>
                </a:solidFill>
                <a:latin typeface="Segoe UI"/>
              </a:rPr>
              <a:t> (</a:t>
            </a:r>
            <a:r>
              <a:rPr sz="1400" b="0">
                <a:solidFill>
                  <a:srgbClr val="B6C2D4"/>
                </a:solidFill>
                <a:latin typeface="Consolas"/>
              </a:rPr>
              <a:t>services/safety/rules.py</a:t>
            </a:r>
            <a:r>
              <a:rPr sz="1600" b="0">
                <a:solidFill>
                  <a:srgbClr val="F8FAFC"/>
                </a:solidFill>
                <a:latin typeface="Segoe UI"/>
              </a:rPr>
              <a:t>, served at </a:t>
            </a:r>
            <a:r>
              <a:rPr sz="1400" b="0">
                <a:solidFill>
                  <a:srgbClr val="B6C2D4"/>
                </a:solidFill>
                <a:latin typeface="Consolas"/>
              </a:rPr>
              <a:t>POST /safety</a:t>
            </a:r>
            <a:r>
              <a:rPr sz="1600" b="0">
                <a:solidFill>
                  <a:srgbClr val="F8FAFC"/>
                </a:solidFill>
                <a:latin typeface="Segoe UI"/>
              </a:rPr>
              <a:t>). It imports no model, loads no artifact, and holds no state 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 test asserts it can never import one</a:t>
            </a:r>
            <a:r>
              <a:rPr sz="1600" b="0">
                <a:solidFill>
                  <a:srgbClr val="F8FAFC"/>
                </a:solidFill>
                <a:latin typeface="Segoe UI"/>
              </a:rPr>
              <a:t>. Same frame, same verdict, forever.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Thresholds are readable off the page and checkable against an engine manual: coolant ≥105 °C, oil pressure ≤100 kPa, bus voltage outside 12.0–15.8 V, EGT ≥580 °C. A missing sensor is </a:t>
            </a:r>
            <a:r>
              <a:rPr sz="1600" b="1">
                <a:solidFill>
                  <a:srgbClr val="F8FAFC"/>
                </a:solidFill>
                <a:latin typeface="Segoe UI"/>
              </a:rPr>
              <a:t>reported as skipped, never assumed safe</a:t>
            </a:r>
            <a:r>
              <a:rPr sz="1600" b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Language is never imperative: "1650 RPM saves 2.1 L/h", never "reduce to 1650".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Claude writes the sentence; it never writes the number.</a:t>
            </a:r>
            <a:r>
              <a:rPr sz="1600" b="0">
                <a:solidFill>
                  <a:srgbClr val="F8FAFC"/>
                </a:solidFill>
                <a:latin typeface="Segoe UI"/>
              </a:rPr>
              <a:t> The rewrite is compared against the optimiser's own sentence — same numbers exactly, no imperative clause — and thrown away if it differs. </a:t>
            </a:r>
            <a:r>
              <a:rPr sz="1400" b="0">
                <a:solidFill>
                  <a:srgbClr val="B6C2D4"/>
                </a:solidFill>
                <a:latin typeface="Consolas"/>
              </a:rPr>
              <a:t>advisory_source</a:t>
            </a:r>
            <a:r>
              <a:rPr sz="1600" b="0">
                <a:solidFill>
                  <a:srgbClr val="F8FAFC"/>
                </a:solidFill>
                <a:latin typeface="Segoe UI"/>
              </a:rPr>
              <a:t> on every frame names who wrote what the captain is reading.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11/17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Data &amp; models, cited (DATA INTEGRITY — REQUIRED CITATIONS)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600200"/>
          <a:ext cx="108749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109728" marR="109728" marT="45720" marB="4572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109728" marR="109728" marT="45720" marB="4572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Licence</a:t>
                      </a:r>
                    </a:p>
                  </a:txBody>
                  <a:tcPr marL="109728" marR="109728" marT="45720" marB="45720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UCI *CBM of Naval Propulsion Plants* (gas turbine)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Wear-penalty model, as a </a:t>
                      </a:r>
                      <a:r>
                        <a:rPr sz="1300" b="1">
                          <a:solidFill>
                            <a:srgbClr val="B6C2D4"/>
                          </a:solidFill>
                          <a:latin typeface="Segoe UI"/>
                        </a:rPr>
                        <a:t>documented proxy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Open (UCI ML)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NASA C-MAPSS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Evaluated for maintenance pretraining; </a:t>
                      </a:r>
                      <a:r>
                        <a:rPr sz="1300" b="1">
                          <a:solidFill>
                            <a:srgbClr val="B6C2D4"/>
                          </a:solidFill>
                          <a:latin typeface="Segoe UI"/>
                        </a:rPr>
                        <a:t>not used</a:t>
                      </a:r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 — the detector learns each vessel's own baseline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US Gov public domain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Published marine-diesel BSFC part-load data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Healthy-burn curve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Literature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Open-Meteo Marine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Wind / wave / current forecast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CC BY 4.0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GEBCO bathymetry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Depth constraint *(intended; not yet integrated)*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Sentinel-2 cloudless (EOX)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Satellite basemap / helm horizon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CC BY 4.0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Natural Earth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Coastline vector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6C2D4"/>
                          </a:solidFill>
                          <a:latin typeface="Segoe UI"/>
                        </a:rPr>
                        <a:t>Public domain</a:t>
                      </a:r>
                    </a:p>
                  </a:txBody>
                  <a:tcPr marL="109728" marR="109728" marT="45720" marB="45720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946904"/>
            <a:ext cx="10874959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Every dataset is public or licensed; no scraped or unlicensed imagery.</a:t>
            </a:r>
            <a:r>
              <a:rPr sz="1600" b="0">
                <a:solidFill>
                  <a:srgbClr val="F8FAFC"/>
                </a:solidFill>
                <a:latin typeface="Segoe UI"/>
              </a:rPr>
              <a:t> Google/Bing/Esri tiles were considered and </a:t>
            </a:r>
            <a:r>
              <a:rPr sz="1600" b="1">
                <a:solidFill>
                  <a:srgbClr val="F8FAFC"/>
                </a:solidFill>
                <a:latin typeface="Segoe UI"/>
              </a:rPr>
              <a:t>rejected</a:t>
            </a:r>
            <a:r>
              <a:rPr sz="1600" b="0">
                <a:solidFill>
                  <a:srgbClr val="F8FAFC"/>
                </a:solidFill>
                <a:latin typeface="Segoe UI"/>
              </a:rPr>
              <a:t> on their terms.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12/17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We list our own deviations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We keep a </a:t>
            </a:r>
            <a:r>
              <a:rPr sz="1600" b="0">
                <a:solidFill>
                  <a:srgbClr val="B6C2D4"/>
                </a:solidFill>
                <a:latin typeface="Consolas"/>
              </a:rPr>
              <a:t>DEVIATIONS.md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every place the build departs from our submitted profile, why, and what it costs. Highlights: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0">
                <a:solidFill>
                  <a:srgbClr val="B6C2D4"/>
                </a:solidFill>
                <a:latin typeface="Segoe UI"/>
              </a:rPr>
              <a:t>Fuel model is </a:t>
            </a:r>
            <a:r>
              <a:rPr sz="1500" b="1">
                <a:solidFill>
                  <a:srgbClr val="B6C2D4"/>
                </a:solidFill>
                <a:latin typeface="Segoe UI"/>
              </a:rPr>
              <a:t>hybrid</a:t>
            </a:r>
            <a:r>
              <a:rPr sz="1500" b="0">
                <a:solidFill>
                  <a:srgbClr val="B6C2D4"/>
                </a:solidFill>
                <a:latin typeface="Segoe UI"/>
              </a:rPr>
              <a:t>, not end-to-end XGBoost.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0">
                <a:solidFill>
                  <a:srgbClr val="B6C2D4"/>
                </a:solidFill>
                <a:latin typeface="Segoe UI"/>
              </a:rPr>
              <a:t>Anchor dataset is a </a:t>
            </a:r>
            <a:r>
              <a:rPr sz="1500" b="1">
                <a:solidFill>
                  <a:srgbClr val="B6C2D4"/>
                </a:solidFill>
                <a:latin typeface="Segoe UI"/>
              </a:rPr>
              <a:t>gas turbine</a:t>
            </a:r>
            <a:r>
              <a:rPr sz="1500" b="0">
                <a:solidFill>
                  <a:srgbClr val="B6C2D4"/>
                </a:solidFill>
                <a:latin typeface="Segoe UI"/>
              </a:rPr>
              <a:t> proxy; only the wear penalty transfers — borrowing its part-load curve would have overstated savings ~</a:t>
            </a:r>
            <a:r>
              <a:rPr sz="1500" b="1">
                <a:solidFill>
                  <a:srgbClr val="B6C2D4"/>
                </a:solidFill>
                <a:latin typeface="Segoe UI"/>
              </a:rPr>
              <a:t>5× in our favour</a:t>
            </a:r>
            <a:r>
              <a:rPr sz="1500" b="0">
                <a:solidFill>
                  <a:srgbClr val="B6C2D4"/>
                </a:solidFill>
                <a:latin typeface="Segoe UI"/>
              </a:rPr>
              <a:t>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1">
                <a:solidFill>
                  <a:srgbClr val="B6C2D4"/>
                </a:solidFill>
                <a:latin typeface="Segoe UI"/>
              </a:rPr>
              <a:t>FEMTO dropped</a:t>
            </a:r>
            <a:r>
              <a:rPr sz="1500" b="0">
                <a:solidFill>
                  <a:srgbClr val="B6C2D4"/>
                </a:solidFill>
                <a:latin typeface="Segoe UI"/>
              </a:rPr>
              <a:t>: it's 25.6 kHz bench data; the spec'd IMU logs at ~1 Hz.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B6C2D4"/>
                </a:solidFill>
                <a:latin typeface="Segoe UI"/>
              </a:rPr>
              <a:t>· </a:t>
            </a:r>
            <a:r>
              <a:rPr sz="1500" b="0">
                <a:solidFill>
                  <a:srgbClr val="B6C2D4"/>
                </a:solidFill>
                <a:latin typeface="Segoe UI"/>
              </a:rPr>
              <a:t>Stack: </a:t>
            </a:r>
            <a:r>
              <a:rPr sz="1500" b="1">
                <a:solidFill>
                  <a:srgbClr val="B6C2D4"/>
                </a:solidFill>
                <a:latin typeface="Segoe UI"/>
              </a:rPr>
              <a:t>ONNX</a:t>
            </a:r>
            <a:r>
              <a:rPr sz="1500" b="0">
                <a:solidFill>
                  <a:srgbClr val="B6C2D4"/>
                </a:solidFill>
                <a:latin typeface="Segoe UI"/>
              </a:rPr>
              <a:t> (not TFLite) — 85 MB vs 358 MB runtime; </a:t>
            </a:r>
            <a:r>
              <a:rPr sz="1500" b="1">
                <a:solidFill>
                  <a:srgbClr val="B6C2D4"/>
                </a:solidFill>
                <a:latin typeface="Segoe UI"/>
              </a:rPr>
              <a:t>Supabase</a:t>
            </a:r>
            <a:r>
              <a:rPr sz="1500" b="0">
                <a:solidFill>
                  <a:srgbClr val="B6C2D4"/>
                </a:solidFill>
                <a:latin typeface="Segoe UI"/>
              </a:rPr>
              <a:t> (not Timescale); </a:t>
            </a:r>
            <a:r>
              <a:rPr sz="1500" b="1">
                <a:solidFill>
                  <a:srgbClr val="B6C2D4"/>
                </a:solidFill>
                <a:latin typeface="Segoe UI"/>
              </a:rPr>
              <a:t>Open-Meteo</a:t>
            </a:r>
            <a:r>
              <a:rPr sz="1500" b="0">
                <a:solidFill>
                  <a:srgbClr val="B6C2D4"/>
                </a:solidFill>
                <a:latin typeface="Segoe UI"/>
              </a:rPr>
              <a:t> (PAGASA has no public API).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13/17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Impact &amp;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1">
                <a:solidFill>
                  <a:srgbClr val="F8FAFC"/>
                </a:solidFill>
                <a:latin typeface="Segoe UI"/>
              </a:rPr>
              <a:t>Retrofit, not replacement</a:t>
            </a:r>
            <a:r>
              <a:rPr sz="1800" b="0">
                <a:solidFill>
                  <a:srgbClr val="F8FAFC"/>
                </a:solidFill>
                <a:latin typeface="Segoe UI"/>
              </a:rPr>
              <a:t> — installs on boats already in service; the whole addressable fleet is reachable without new hulls.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Measured outcomes: litres/nm down, pesos/voyage down, unscheduled downtime converted to scheduled dry-docking, CO₂-avoided evidence produced monthly.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Three stakeholders, three surfaces: captain (bridge screen), owner/cooperative (savings + emissions report), LGU/MARINA/ESG lenders (exported evidence).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Runs as a </a:t>
            </a:r>
            <a:r>
              <a:rPr sz="1800" b="1">
                <a:solidFill>
                  <a:srgbClr val="F8FAFC"/>
                </a:solidFill>
                <a:latin typeface="Segoe UI"/>
              </a:rPr>
              <a:t>serverless function</a:t>
            </a:r>
            <a:r>
              <a:rPr sz="1800" b="0">
                <a:solidFill>
                  <a:srgbClr val="F8FAFC"/>
                </a:solidFill>
                <a:latin typeface="Segoe UI"/>
              </a:rPr>
              <a:t> (85 MB serving image) — cheap to operate, same argument for an on-vessel edge unit.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14/17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Scalability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Per-vessel </a:t>
            </a:r>
            <a:r>
              <a:rPr sz="1800" b="1">
                <a:solidFill>
                  <a:srgbClr val="F8FAFC"/>
                </a:solidFill>
                <a:latin typeface="Segoe UI"/>
              </a:rPr>
              <a:t>calibration</a:t>
            </a:r>
            <a:r>
              <a:rPr sz="1800" b="0">
                <a:solidFill>
                  <a:srgbClr val="F8FAFC"/>
                </a:solidFill>
                <a:latin typeface="Segoe UI"/>
              </a:rPr>
              <a:t>: the physics coefficients fit to each boat's own fuel-flow meter (</a:t>
            </a:r>
            <a:r>
              <a:rPr sz="1600" b="0">
                <a:solidFill>
                  <a:srgbClr val="B6C2D4"/>
                </a:solidFill>
                <a:latin typeface="Consolas"/>
              </a:rPr>
              <a:t>calibrate_admiralty</a:t>
            </a:r>
            <a:r>
              <a:rPr sz="1800" b="0">
                <a:solidFill>
                  <a:srgbClr val="F8FAFC"/>
                </a:solidFill>
                <a:latin typeface="Segoe UI"/>
              </a:rPr>
              <a:t>) — the model becomes a model of *that* boat.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Fleet path: same schema scales from one boat to a cooperative's fleet; SQL is portable to TimescaleDB when volume justifies it.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Near-term: wire GEBCO depth; train the route forecaster on the Open-Meteo archive; fit per-vessel health baselines from logged telemetry in place of the demo default; PAGASA integration via data-sharing.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Longer-term: AIS traffic avoidance (reserved in the contract today).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15/17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Team &amp;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Team SOLMATE — roles.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One line: *"Marine-AI: less fuel, fewer breakdowns, and the receipts to prove it — on the boats that are already out there."*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97316"/>
                </a:solidFill>
                <a:latin typeface="Segoe UI"/>
              </a:rPr>
              <a:t>— </a:t>
            </a:r>
            <a:r>
              <a:rPr sz="1800" b="0">
                <a:solidFill>
                  <a:srgbClr val="F8FAFC"/>
                </a:solidFill>
                <a:latin typeface="Segoe UI"/>
              </a:rPr>
              <a:t>Public demo URL · repo URL · this deck.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16/17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"/>
              </a:rPr>
              <a:t>Appendix / backup slides (for Q&amp;A, not in the main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16736"/>
            <a:ext cx="10058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7495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A1 — Fuel model math:</a:t>
            </a:r>
            <a:r>
              <a:rPr sz="1600" b="0">
                <a:solidFill>
                  <a:srgbClr val="F8FAFC"/>
                </a:solidFill>
                <a:latin typeface="Segoe UI"/>
              </a:rPr>
              <a:t> the BSFC bathtub curve, the derived (not chosen) enrichment coefficient, the idle-burn floor.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A2 — Why ONNX earned its keep:</a:t>
            </a:r>
            <a:r>
              <a:rPr sz="1600" b="0">
                <a:solidFill>
                  <a:srgbClr val="F8FAFC"/>
                </a:solidFill>
                <a:latin typeface="Segoe UI"/>
              </a:rPr>
              <a:t> 358 MB → 85 MB; export gated at 1e-4 drift (observed 1.5e-6).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A3 — Route costing detail:</a:t>
            </a:r>
            <a:r>
              <a:rPr sz="1600" b="0">
                <a:solidFill>
                  <a:srgbClr val="F8FAFC"/>
                </a:solidFill>
                <a:latin typeface="Segoe UI"/>
              </a:rPr>
              <a:t> candidate sweep, per-leg optimiser reuse, the 1e-6 agreement test.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A4 — The wear→fuel bridge:</a:t>
            </a:r>
            <a:r>
              <a:rPr sz="1600" b="0">
                <a:solidFill>
                  <a:srgbClr val="F8FAFC"/>
                </a:solidFill>
                <a:latin typeface="Segoe UI"/>
              </a:rPr>
              <a:t> EGT-excess-over-baseline as the wear signal (r=0.99 in training), ratio-against-healthy to cancel boundary bias.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A5 — Full deviations table</a:t>
            </a:r>
            <a:r>
              <a:rPr sz="1600" b="0">
                <a:solidFill>
                  <a:srgbClr val="F8FAFC"/>
                </a:solidFill>
                <a:latin typeface="Segoe UI"/>
              </a:rPr>
              <a:t> (12 deliberate departures from </a:t>
            </a:r>
            <a:r>
              <a:rPr sz="1400" b="0">
                <a:solidFill>
                  <a:srgbClr val="B6C2D4"/>
                </a:solidFill>
                <a:latin typeface="Consolas"/>
              </a:rPr>
              <a:t>DEVIATIONS.md</a:t>
            </a:r>
            <a:r>
              <a:rPr sz="1600" b="0">
                <a:solidFill>
                  <a:srgbClr val="F8FAFC"/>
                </a:solidFill>
                <a:latin typeface="Segoe UI"/>
              </a:rPr>
              <a:t>, plus the "Still outstanding" table of what is not built yet). Bring both. The second one is the harder slide and the more convincing one.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1">
                <a:solidFill>
                  <a:srgbClr val="F8FAFC"/>
                </a:solidFill>
                <a:latin typeface="Segoe UI"/>
              </a:rPr>
              <a:t>A6 — The safety path:</a:t>
            </a:r>
            <a:r>
              <a:rPr sz="1600" b="0">
                <a:solidFill>
                  <a:srgbClr val="F8FAFC"/>
                </a:solidFill>
                <a:latin typeface="Segoe UI"/>
              </a:rPr>
              <a:t> the rule table, the thresholds, and the test that fails if a model is ever imported into it.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97316"/>
                </a:solidFill>
                <a:latin typeface="Segoe UI"/>
              </a:rPr>
              <a:t>— </a:t>
            </a:r>
            <a:r>
              <a:rPr sz="1600" b="0">
                <a:solidFill>
                  <a:srgbClr val="F8FAFC"/>
                </a:solidFill>
                <a:latin typeface="Segoe UI"/>
              </a:rPr>
              <a:t>---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199632"/>
            <a:ext cx="10874959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6C2D4"/>
                </a:solidFill>
                <a:latin typeface="Segoe UI"/>
              </a:rPr>
              <a:t>Marine-AI  ·  Team SOLMATE  ·  ADVISORY ONLY — CAPTAIN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2910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6C2D4"/>
                </a:solidFill>
                <a:latin typeface="Consolas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