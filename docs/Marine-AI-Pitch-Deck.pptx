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Innovation &amp; Impact (15%); Local Relevance (12.5%).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Impact; AI Architecture &amp;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Functional Prototype (10% — the working demo);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Architecture &amp; Model Fit — 30% of Technical Soundness, so **15% of the total grade**, the single largest sub-criterion there is.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Feasibility &amp; Scalability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Impact; AI Architecture &amp; Model Fit.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(10%); Innovation &amp; Impact (usability by a non-engineer captain is the impact claim).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Data Strategy &amp; Ethics — 25% of Technical Soundness, so **12.5% of the total**, more than Presentation is worth.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Strategy &amp; Ethics (12.5% of the total); the brief's citation requirement. Full licence disclosure lives in `docs/THIRD-PARTY.md`.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criterion is now explicitly about *path to adoption,</a:t>
            </a:r>
          </a:p>
          <a:p>
            <a:r>
              <a:t>sustainability as a venture, and capacity to scale beyond the prototype* — so</a:t>
            </a:r>
          </a:p>
          <a:p>
            <a:r>
              <a:t>lead with the business mechanism, not the technology. We're not asking an</a:t>
            </a:r>
          </a:p>
          <a:p>
            <a:r>
              <a:t>operator to buy a boat; we're asking them to bolt on a sensor kit that pays for</a:t>
            </a:r>
          </a:p>
          <a:p>
            <a:r>
              <a:t>itself in fuel, and the emissions report gives a cooperative or lender a reason</a:t>
            </a:r>
          </a:p>
          <a:p>
            <a:r>
              <a:t>to underwrite the kit up front.</a:t>
            </a:r>
          </a:p>
          <a:p/>
          <a:p>
            <a:r>
              <a:t>Be ready for the venture question: who buys the first hundred units, and what</a:t>
            </a:r>
          </a:p>
          <a:p>
            <a:r>
              <a:t>does the second year look like. The honest framing is a cooperative-level sale —</a:t>
            </a:r>
          </a:p>
          <a:p>
            <a:r>
              <a:t>one operator with a dozen boats — rather than a hundred individual captains,</a:t>
            </a:r>
          </a:p>
          <a:p>
            <a:r>
              <a:t>because the emissions evidence has value at the fleet level where an LGU or</a:t>
            </a:r>
          </a:p>
          <a:p>
            <a:r>
              <a:t>lender is already looking.</a:t>
            </a:r>
          </a:p>
          <a:p/>
          <a:p>
            <a:r>
              <a:t>SERVES (rubric): Feasibility &amp; Scalability (25%).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Note the scaling limit honestly if asked: the route forecaster is trained on a</a:t>
            </a:r>
          </a:p>
          <a:p>
            <a:r>
              <a:t>9-point grid over one strait, so a new region is a retraining task on the same</a:t>
            </a:r>
          </a:p>
          <a:p>
            <a:r>
              <a:t>pipeline — not a code change, but not free either. `DATA.md` §Representativeness</a:t>
            </a:r>
          </a:p>
          <a:p>
            <a:r>
              <a:t>states this unprompted, which is the better place for a judge to find it than in</a:t>
            </a:r>
          </a:p>
          <a:p>
            <a:r>
              <a:t>your answer to a hostile question.</a:t>
            </a:r>
          </a:p>
          <a:p/>
          <a:p>
            <a:r>
              <a:t>SERVES (rubric): Feasibility &amp; Scalability (25%); Innovation &amp; Impact (15%).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retrofit promise and the honesty posture. Invite</a:t>
            </a:r>
          </a:p>
          <a:p>
            <a:r>
              <a:t>the Q&amp;A — the deviations slide means 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· public repo URL (both must resolve — required, or DQ)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sensor systems → three parallel AI modules → </a:t>
            </a:r>
            <a:r>
              <a:rPr sz="1800" b="1">
                <a:solidFill>
                  <a:srgbClr val="F8FAFC"/>
                </a:solidFill>
                <a:latin typeface="Segoe UI"/>
              </a:rPr>
              <a:t>one bridge display</a:t>
            </a:r>
            <a:r>
              <a:rPr sz="1800" b="0">
                <a:solidFill>
                  <a:srgbClr val="F8FAFC"/>
                </a:solidFill>
                <a:latin typeface="Segoe UI"/>
              </a:rPr>
              <a:t>. 1. </a:t>
            </a:r>
            <a:r>
              <a:rPr sz="1800" b="1">
                <a:solidFill>
                  <a:srgbClr val="F8FAFC"/>
                </a:solidFill>
                <a:latin typeface="Segoe UI"/>
              </a:rPr>
              <a:t>Speed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throttle that still meets the schedule. 2.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lawful track for the same arrival. 3. </a:t>
            </a:r>
            <a:r>
              <a:rPr sz="1800" b="1">
                <a:solidFill>
                  <a:srgbClr val="F8FAFC"/>
                </a:solidFill>
                <a:latin typeface="Segoe UI"/>
              </a:rPr>
              <a:t>Predictive 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engine health, honest about its own maturity.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(Problem 3) rides on the fuel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Problem 1 → Problem 2 link is priced: a worn engine's fuel penalty is a line item in litres/hour and pesos/hour.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model is sized to the job, and we measured it.</a:t>
            </a:r>
            <a:r>
              <a:rPr sz="1600" b="0">
                <a:solidFill>
                  <a:srgbClr val="F8FAFC"/>
                </a:solidFill>
                <a:latin typeface="Segoe UI"/>
              </a:rPr>
              <a:t> Rewriting one 180-character sentence does not need a frontier model. Both were run on the same three advisories: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claude-opus-5</a:t>
            </a:r>
            <a:r>
              <a:rPr sz="1600" b="0">
                <a:solidFill>
                  <a:srgbClr val="F8FAFC"/>
                </a:solidFill>
                <a:latin typeface="Segoe UI"/>
              </a:rPr>
              <a:t> and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claude-haiku-4-5</a:t>
            </a:r>
            <a:r>
              <a:rPr sz="1600" b="0">
                <a:solidFill>
                  <a:srgbClr val="F8FAFC"/>
                </a:solidFill>
                <a:latin typeface="Segoe UI"/>
              </a:rPr>
              <a:t> each passed the guard 3/3 with every number preserved, and Haiku was </a:t>
            </a:r>
            <a:r>
              <a:rPr sz="1600" b="1">
                <a:solidFill>
                  <a:srgbClr val="F8FAFC"/>
                </a:solidFill>
                <a:latin typeface="Segoe UI"/>
              </a:rPr>
              <a:t>2.2× faster at ⅕ the cost</a:t>
            </a:r>
            <a:r>
              <a:rPr sz="1600" b="0">
                <a:solidFill>
                  <a:srgbClr val="F8FAFC"/>
                </a:solidFill>
                <a:latin typeface="Segoe UI"/>
              </a:rPr>
              <a:t>. The guard is provider-agnostic by design — Gemini passes it too — so the layer is a slot, not a dependency.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Feasibility &amp; scalability (PATH TO ADOPTION)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 pays, and why they say yes:</a:t>
            </a:r>
            <a:r>
              <a:rPr sz="1800" b="0">
                <a:solidFill>
                  <a:srgbClr val="F8FAFC"/>
                </a:solidFill>
                <a:latin typeface="Segoe UI"/>
              </a:rPr>
              <a:t> the kit is bought out of the fuel it saves. The operator's decision is a payback period, not a capital purchase.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 — and the third is what makes this fundable rather than merely useful.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Team SOLMATE — roles.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Public demo URL · repo URL ·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Appendix / backup slides (for Q&amp;A, not in the main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A1 — Fuel model math: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BSFC bathtub curve, the derived (not chosen) enrichment coefficient, the idle-burn floor.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A2 — Why ONNX earned its keep:</a:t>
            </a:r>
            <a:r>
              <a:rPr sz="1600" b="0">
                <a:solidFill>
                  <a:srgbClr val="F8FAFC"/>
                </a:solidFill>
                <a:latin typeface="Segoe UI"/>
              </a:rPr>
              <a:t> 358 MB → 85 MB; export gated at 1e-4 drift (observed 1.5e-6).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A3 — Route costing detail:</a:t>
            </a:r>
            <a:r>
              <a:rPr sz="1600" b="0">
                <a:solidFill>
                  <a:srgbClr val="F8FAFC"/>
                </a:solidFill>
                <a:latin typeface="Segoe UI"/>
              </a:rPr>
              <a:t> candidate sweep, per-leg optimiser reuse, the 1e-6 agreement test.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A4 — The 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 (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, mean 0.986 across the seven load points), ratio-against-healthy to cancel boundary bias. Say "at fixed load" out loud: pooled across loads r is 0.86, because load moves both variables, and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A5 — Full deviations table</a:t>
            </a:r>
            <a:r>
              <a:rPr sz="1600" b="0">
                <a:solidFill>
                  <a:srgbClr val="F8FAFC"/>
                </a:solidFill>
                <a:latin typeface="Segoe UI"/>
              </a:rPr>
              <a:t> (12 deliberate departures from </a:t>
            </a:r>
            <a:r>
              <a:rPr sz="14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, plus the "Still outstanding" table of what is not built yet). Bring both. The second one is the harder slide and the more convincing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A6 — The safety path: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rule table, the thresholds, and the test that fails if a model is ever imported into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---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